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 id="2147483656"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5143500" cx="9144000"/>
  <p:notesSz cx="5143500" cy="9144000"/>
  <p:embeddedFontLst>
    <p:embeddedFont>
      <p:font typeface="League Spartan"/>
      <p:bold r:id="rId23"/>
    </p:embeddedFont>
    <p:embeddedFont>
      <p:font typeface="Noto Sans SemiBold"/>
      <p:regular r:id="rId24"/>
      <p:bold r:id="rId25"/>
      <p:italic r:id="rId26"/>
      <p:boldItalic r:id="rId27"/>
    </p:embeddedFont>
    <p:embeddedFont>
      <p:font typeface="Noto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B79C1C-6812-4DCE-A759-B7A6D6BC150C}">
  <a:tblStyle styleId="{61B79C1C-6812-4DCE-A759-B7A6D6BC150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font" Target="fonts/NotoSansSemiBold-regular.fntdata"/><Relationship Id="rId23" Type="http://schemas.openxmlformats.org/officeDocument/2006/relationships/font" Target="fonts/LeagueSpartan-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NotoSansSemiBold-italic.fntdata"/><Relationship Id="rId25" Type="http://schemas.openxmlformats.org/officeDocument/2006/relationships/font" Target="fonts/NotoSansSemiBold-bold.fntdata"/><Relationship Id="rId28" Type="http://schemas.openxmlformats.org/officeDocument/2006/relationships/font" Target="fonts/NotoSans-regular.fntdata"/><Relationship Id="rId27" Type="http://schemas.openxmlformats.org/officeDocument/2006/relationships/font" Target="fonts/NotoSansSemiBold-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NotoSans-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otoSans-boldItalic.fntdata"/><Relationship Id="rId30" Type="http://schemas.openxmlformats.org/officeDocument/2006/relationships/font" Target="fonts/NotoSans-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6a3782e983122f67_1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h6a3782e983122f67_1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h6a3782e983122f67_1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6a3782e983122f67_1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h6a3782e983122f67_1_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h6a3782e983122f67_1_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h6a3782e983122f67_1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h6a3782e983122f67_1_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7" name="Google Shape;257;h6a3782e983122f67_1_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6a3782e983122f67_1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h6a3782e983122f67_1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h6a3782e983122f67_1_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h6a3782e983122f67_1_3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h6a3782e983122f67_1_3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h6a3782e983122f67_1_3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1B1916"/>
        </a:solidFill>
      </p:bgPr>
    </p:bg>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 name="Google Shape;12;p2"/>
          <p:cNvSpPr/>
          <p:nvPr/>
        </p:nvSpPr>
        <p:spPr>
          <a:xfrm>
            <a:off x="0" y="0"/>
            <a:ext cx="9144000" cy="5143500"/>
          </a:xfrm>
          <a:prstGeom prst="rect">
            <a:avLst/>
          </a:prstGeom>
          <a:solidFill>
            <a:srgbClr val="000000">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2">
  <p:cSld name="Slide master 2">
    <p:bg>
      <p:bgPr>
        <a:solidFill>
          <a:srgbClr val="1B1916"/>
        </a:solidFill>
      </p:bgPr>
    </p:bg>
    <p:spTree>
      <p:nvGrpSpPr>
        <p:cNvPr id="14" name="Shape 14"/>
        <p:cNvGrpSpPr/>
        <p:nvPr/>
      </p:nvGrpSpPr>
      <p:grpSpPr>
        <a:xfrm>
          <a:off x="0" y="0"/>
          <a:ext cx="0" cy="0"/>
          <a:chOff x="0" y="0"/>
          <a:chExt cx="0" cy="0"/>
        </a:xfrm>
      </p:grpSpPr>
      <p:pic>
        <p:nvPicPr>
          <p:cNvPr descr="preencoded.png" id="15" name="Google Shape;15;p3">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1B1916"/>
        </a:solidFill>
      </p:bgPr>
    </p:bg>
    <p:spTree>
      <p:nvGrpSpPr>
        <p:cNvPr id="18" name="Shape 18"/>
        <p:cNvGrpSpPr/>
        <p:nvPr/>
      </p:nvGrpSpPr>
      <p:grpSpPr>
        <a:xfrm>
          <a:off x="0" y="0"/>
          <a:ext cx="0" cy="0"/>
          <a:chOff x="0" y="0"/>
          <a:chExt cx="0" cy="0"/>
        </a:xfrm>
      </p:grpSpPr>
      <p:pic>
        <p:nvPicPr>
          <p:cNvPr descr="preencoded.png" id="19" name="Google Shape;19;p6">
            <a:hlinkClick r:id="rId2"/>
          </p:cNvPr>
          <p:cNvPicPr preferRelativeResize="0"/>
          <p:nvPr/>
        </p:nvPicPr>
        <p:blipFill rotWithShape="1">
          <a:blip r:embed="rId3">
            <a:alphaModFix/>
          </a:blip>
          <a:srcRect b="0" l="0" r="0" t="0"/>
          <a:stretch/>
        </p:blipFill>
        <p:spPr>
          <a:xfrm>
            <a:off x="8029180" y="4844491"/>
            <a:ext cx="1071844" cy="25603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1B1916"/>
        </a:solidFill>
      </p:bgPr>
    </p:bg>
    <p:spTree>
      <p:nvGrpSpPr>
        <p:cNvPr id="22" name="Shape 22"/>
        <p:cNvGrpSpPr/>
        <p:nvPr/>
      </p:nvGrpSpPr>
      <p:grpSpPr>
        <a:xfrm>
          <a:off x="0" y="0"/>
          <a:ext cx="0" cy="0"/>
          <a:chOff x="0" y="0"/>
          <a:chExt cx="0" cy="0"/>
        </a:xfrm>
      </p:grpSpPr>
      <p:pic>
        <p:nvPicPr>
          <p:cNvPr descr="preencoded.png" id="23" name="Google Shape;23;p9">
            <a:hlinkClick r:id="rId2"/>
          </p:cNvPr>
          <p:cNvPicPr preferRelativeResize="0"/>
          <p:nvPr/>
        </p:nvPicPr>
        <p:blipFill rotWithShape="1">
          <a:blip r:embed="rId3">
            <a:alphaModFix/>
          </a:blip>
          <a:srcRect b="0" l="0" r="0" t="0"/>
          <a:stretch/>
        </p:blipFill>
        <p:spPr>
          <a:xfrm>
            <a:off x="8029180" y="4844491"/>
            <a:ext cx="1071844" cy="25603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4" name="Shape 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 name="Shape 1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 name="Shape 2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3" r:id="rId1"/>
    <p:sldLayoutId id="214748365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11"/>
          <p:cNvSpPr/>
          <p:nvPr/>
        </p:nvSpPr>
        <p:spPr>
          <a:xfrm>
            <a:off x="495300" y="457200"/>
            <a:ext cx="81915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Noto Sans SemiBold"/>
              <a:buNone/>
            </a:pPr>
            <a:r>
              <a:rPr b="0" i="0" lang="en-US" sz="900" u="none" cap="none" strike="noStrike">
                <a:solidFill>
                  <a:srgbClr val="FFFFFF"/>
                </a:solidFill>
                <a:latin typeface="Noto Sans SemiBold"/>
                <a:ea typeface="Noto Sans SemiBold"/>
                <a:cs typeface="Noto Sans SemiBold"/>
                <a:sym typeface="Noto Sans SemiBold"/>
              </a:rPr>
              <a:t>BÁO CÁO BÀI TẬP LỚN · NHÓM 12</a:t>
            </a:r>
            <a:endParaRPr b="0" i="0" sz="900" u="none" cap="none" strike="noStrike">
              <a:solidFill>
                <a:schemeClr val="dk1"/>
              </a:solidFill>
              <a:latin typeface="Calibri"/>
              <a:ea typeface="Calibri"/>
              <a:cs typeface="Calibri"/>
              <a:sym typeface="Calibri"/>
            </a:endParaRPr>
          </a:p>
        </p:txBody>
      </p:sp>
      <p:sp>
        <p:nvSpPr>
          <p:cNvPr id="31" name="Google Shape;31;p11"/>
          <p:cNvSpPr/>
          <p:nvPr/>
        </p:nvSpPr>
        <p:spPr>
          <a:xfrm>
            <a:off x="495300" y="715968"/>
            <a:ext cx="7734300" cy="1031379"/>
          </a:xfrm>
          <a:prstGeom prst="rect">
            <a:avLst/>
          </a:prstGeom>
          <a:noFill/>
          <a:ln>
            <a:noFill/>
          </a:ln>
        </p:spPr>
        <p:txBody>
          <a:bodyPr anchorCtr="0" anchor="t" bIns="0" lIns="0" spcFirstLastPara="1" rIns="0" wrap="square" tIns="0">
            <a:noAutofit/>
          </a:bodyPr>
          <a:lstStyle/>
          <a:p>
            <a:pPr indent="0" lvl="0" marL="0" marR="0" rtl="0" algn="l">
              <a:lnSpc>
                <a:spcPct val="79000"/>
              </a:lnSpc>
              <a:spcBef>
                <a:spcPts val="0"/>
              </a:spcBef>
              <a:spcAft>
                <a:spcPts val="0"/>
              </a:spcAft>
              <a:buClr>
                <a:srgbClr val="EFE8D8"/>
              </a:buClr>
              <a:buSzPts val="2750"/>
              <a:buFont typeface="League Spartan"/>
              <a:buNone/>
            </a:pPr>
            <a:r>
              <a:rPr b="1" i="0" lang="en-US" sz="2750" u="none" cap="none" strike="noStrike">
                <a:solidFill>
                  <a:srgbClr val="EFE8D8"/>
                </a:solidFill>
                <a:latin typeface="League Spartan"/>
                <a:ea typeface="League Spartan"/>
                <a:cs typeface="League Spartan"/>
                <a:sym typeface="League Spartan"/>
              </a:rPr>
              <a:t>ĐÁNH GIÁ &amp; KIỂM ĐỊNH CHẤT LƯỢNG HỆ THỐNG SÀN ĐẤU GIÁ TRỰC TUYẾN PHÂN TÁN AUCTIONHOUSE</a:t>
            </a:r>
            <a:endParaRPr b="0" i="0" sz="2750" u="none" cap="none" strike="noStrike">
              <a:solidFill>
                <a:schemeClr val="dk1"/>
              </a:solidFill>
              <a:latin typeface="Calibri"/>
              <a:ea typeface="Calibri"/>
              <a:cs typeface="Calibri"/>
              <a:sym typeface="Calibri"/>
            </a:endParaRPr>
          </a:p>
        </p:txBody>
      </p:sp>
      <p:sp>
        <p:nvSpPr>
          <p:cNvPr id="32" name="Google Shape;32;p11"/>
          <p:cNvSpPr/>
          <p:nvPr/>
        </p:nvSpPr>
        <p:spPr>
          <a:xfrm>
            <a:off x="495300" y="1876946"/>
            <a:ext cx="3867076" cy="23738"/>
          </a:xfrm>
          <a:prstGeom prst="roundRect">
            <a:avLst>
              <a:gd fmla="val 50000" name="adj"/>
            </a:avLst>
          </a:prstGeom>
          <a:solidFill>
            <a:srgbClr val="E85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1"/>
          <p:cNvSpPr/>
          <p:nvPr/>
        </p:nvSpPr>
        <p:spPr>
          <a:xfrm>
            <a:off x="7922800" y="4846600"/>
            <a:ext cx="1164000" cy="252600"/>
          </a:xfrm>
          <a:prstGeom prst="rect">
            <a:avLst/>
          </a:prstGeom>
          <a:solidFill>
            <a:srgbClr val="1313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 name="Google Shape;34;p11"/>
          <p:cNvSpPr/>
          <p:nvPr/>
        </p:nvSpPr>
        <p:spPr>
          <a:xfrm>
            <a:off x="495300" y="2091630"/>
            <a:ext cx="8153400" cy="959941"/>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FFFFFF"/>
              </a:buClr>
              <a:buSzPts val="1350"/>
              <a:buFont typeface="Noto Sans"/>
              <a:buNone/>
            </a:pPr>
            <a:r>
              <a:rPr b="0" i="0" lang="en-US" sz="1350" u="none" cap="none" strike="noStrike">
                <a:solidFill>
                  <a:srgbClr val="FFFFFF"/>
                </a:solidFill>
                <a:latin typeface="Noto Sans"/>
                <a:ea typeface="Noto Sans"/>
                <a:cs typeface="Noto Sans"/>
                <a:sym typeface="Noto Sans"/>
              </a:rPr>
              <a:t>Báo cáo phân tích quy trình Đảm bảo chất lượng phần mềm (SQA): Thẩm định 101 Test Cases kiểm thử thủ công hộp đen, phân tích nguyên nhân gốc rễ (Root Cause Analysis) 13 lỗi hệ thống, giải pháp khắc phục tranh chấp đồng thời (Race Condition) bằng khóa phân tán Redis Redlock, kiểm thử hộp trắng với Jest 100% Code Coverage, và đánh giá hiệu năng chịu tải với Grafana k6 &amp; Apache JMeter.</a:t>
            </a:r>
            <a:endParaRPr b="0" i="0" sz="1350" u="none" cap="none" strike="noStrike">
              <a:solidFill>
                <a:schemeClr val="dk1"/>
              </a:solidFill>
              <a:latin typeface="Calibri"/>
              <a:ea typeface="Calibri"/>
              <a:cs typeface="Calibri"/>
              <a:sym typeface="Calibri"/>
            </a:endParaRPr>
          </a:p>
        </p:txBody>
      </p:sp>
      <p:sp>
        <p:nvSpPr>
          <p:cNvPr id="35" name="Google Shape;35;p11"/>
          <p:cNvSpPr/>
          <p:nvPr/>
        </p:nvSpPr>
        <p:spPr>
          <a:xfrm>
            <a:off x="457200" y="3205981"/>
            <a:ext cx="8229600" cy="1657276"/>
          </a:xfrm>
          <a:prstGeom prst="roundRect">
            <a:avLst>
              <a:gd fmla="val 1379"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1"/>
          <p:cNvSpPr/>
          <p:nvPr/>
        </p:nvSpPr>
        <p:spPr>
          <a:xfrm>
            <a:off x="647700" y="3358375"/>
            <a:ext cx="26508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Noto Sans SemiBold"/>
              <a:buNone/>
            </a:pPr>
            <a:r>
              <a:rPr b="0" i="0" lang="en-US" sz="900" u="none" cap="none" strike="noStrike">
                <a:solidFill>
                  <a:srgbClr val="FFFFFF"/>
                </a:solidFill>
                <a:latin typeface="Noto Sans SemiBold"/>
                <a:ea typeface="Noto Sans SemiBold"/>
                <a:cs typeface="Noto Sans SemiBold"/>
                <a:sym typeface="Noto Sans SemiBold"/>
              </a:rPr>
              <a:t>MÔN HỌC</a:t>
            </a:r>
            <a:endParaRPr b="0" i="0" sz="900" u="none" cap="none" strike="noStrike">
              <a:solidFill>
                <a:schemeClr val="dk1"/>
              </a:solidFill>
              <a:latin typeface="Calibri"/>
              <a:ea typeface="Calibri"/>
              <a:cs typeface="Calibri"/>
              <a:sym typeface="Calibri"/>
            </a:endParaRPr>
          </a:p>
        </p:txBody>
      </p:sp>
      <p:sp>
        <p:nvSpPr>
          <p:cNvPr id="37" name="Google Shape;37;p11"/>
          <p:cNvSpPr/>
          <p:nvPr/>
        </p:nvSpPr>
        <p:spPr>
          <a:xfrm>
            <a:off x="647700" y="3586005"/>
            <a:ext cx="2650800" cy="4266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Đánh giá &amp; Kiểm định Chất lượng Phần mềm</a:t>
            </a:r>
            <a:endParaRPr b="0" i="0" sz="1200" u="none" cap="none" strike="noStrike">
              <a:solidFill>
                <a:schemeClr val="dk1"/>
              </a:solidFill>
              <a:latin typeface="Calibri"/>
              <a:ea typeface="Calibri"/>
              <a:cs typeface="Calibri"/>
              <a:sym typeface="Calibri"/>
            </a:endParaRPr>
          </a:p>
        </p:txBody>
      </p:sp>
      <p:sp>
        <p:nvSpPr>
          <p:cNvPr id="38" name="Google Shape;38;p11"/>
          <p:cNvSpPr/>
          <p:nvPr/>
        </p:nvSpPr>
        <p:spPr>
          <a:xfrm>
            <a:off x="3678873" y="3358375"/>
            <a:ext cx="19881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Noto Sans SemiBold"/>
              <a:buNone/>
            </a:pPr>
            <a:r>
              <a:rPr b="0" i="0" lang="en-US" sz="900" u="none" cap="none" strike="noStrike">
                <a:solidFill>
                  <a:srgbClr val="FFFFFF"/>
                </a:solidFill>
                <a:latin typeface="Noto Sans SemiBold"/>
                <a:ea typeface="Noto Sans SemiBold"/>
                <a:cs typeface="Noto Sans SemiBold"/>
                <a:sym typeface="Noto Sans SemiBold"/>
              </a:rPr>
              <a:t>GIẢNG VIÊN HƯỚNG DẪN</a:t>
            </a:r>
            <a:endParaRPr b="0" i="0" sz="900" u="none" cap="none" strike="noStrike">
              <a:solidFill>
                <a:schemeClr val="dk1"/>
              </a:solidFill>
              <a:latin typeface="Calibri"/>
              <a:ea typeface="Calibri"/>
              <a:cs typeface="Calibri"/>
              <a:sym typeface="Calibri"/>
            </a:endParaRPr>
          </a:p>
        </p:txBody>
      </p:sp>
      <p:sp>
        <p:nvSpPr>
          <p:cNvPr id="39" name="Google Shape;39;p11"/>
          <p:cNvSpPr/>
          <p:nvPr/>
        </p:nvSpPr>
        <p:spPr>
          <a:xfrm>
            <a:off x="3678873" y="3586005"/>
            <a:ext cx="1988100" cy="2133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Thầy Trịnh Thanh Bình</a:t>
            </a:r>
            <a:endParaRPr b="0" i="0" sz="1200" u="none" cap="none" strike="noStrike">
              <a:solidFill>
                <a:schemeClr val="dk1"/>
              </a:solidFill>
              <a:latin typeface="Calibri"/>
              <a:ea typeface="Calibri"/>
              <a:cs typeface="Calibri"/>
              <a:sym typeface="Calibri"/>
            </a:endParaRPr>
          </a:p>
        </p:txBody>
      </p:sp>
      <p:sp>
        <p:nvSpPr>
          <p:cNvPr id="40" name="Google Shape;40;p11"/>
          <p:cNvSpPr/>
          <p:nvPr/>
        </p:nvSpPr>
        <p:spPr>
          <a:xfrm>
            <a:off x="6047440" y="3358375"/>
            <a:ext cx="33129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Noto Sans SemiBold"/>
              <a:buNone/>
            </a:pPr>
            <a:r>
              <a:rPr b="0" i="0" lang="en-US" sz="900" u="none" cap="none" strike="noStrike">
                <a:solidFill>
                  <a:srgbClr val="FFFFFF"/>
                </a:solidFill>
                <a:latin typeface="Noto Sans SemiBold"/>
                <a:ea typeface="Noto Sans SemiBold"/>
                <a:cs typeface="Noto Sans SemiBold"/>
                <a:sym typeface="Noto Sans SemiBold"/>
              </a:rPr>
              <a:t>NHÓM THỰC HIỆN</a:t>
            </a:r>
            <a:endParaRPr b="0" i="0" sz="900" u="none" cap="none" strike="noStrike">
              <a:solidFill>
                <a:schemeClr val="dk1"/>
              </a:solidFill>
              <a:latin typeface="Calibri"/>
              <a:ea typeface="Calibri"/>
              <a:cs typeface="Calibri"/>
              <a:sym typeface="Calibri"/>
            </a:endParaRPr>
          </a:p>
        </p:txBody>
      </p:sp>
      <p:sp>
        <p:nvSpPr>
          <p:cNvPr id="41" name="Google Shape;41;p11"/>
          <p:cNvSpPr/>
          <p:nvPr/>
        </p:nvSpPr>
        <p:spPr>
          <a:xfrm>
            <a:off x="6047440" y="3586005"/>
            <a:ext cx="3312900" cy="11247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Phạm Văn Tiến Dũng </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Tạ Thu Hương Linh </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Đoàn Văn Khánh </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Đoàn Hoàng Vũ</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2"/>
          <p:cNvSpPr/>
          <p:nvPr/>
        </p:nvSpPr>
        <p:spPr>
          <a:xfrm>
            <a:off x="419100" y="419100"/>
            <a:ext cx="87249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Noto Sans SemiBold"/>
              <a:buNone/>
            </a:pPr>
            <a:r>
              <a:rPr b="0" i="0" lang="en-US" sz="900" u="none" cap="none" strike="noStrike">
                <a:solidFill>
                  <a:srgbClr val="A39C8E"/>
                </a:solidFill>
                <a:latin typeface="Noto Sans SemiBold"/>
                <a:ea typeface="Noto Sans SemiBold"/>
                <a:cs typeface="Noto Sans SemiBold"/>
                <a:sym typeface="Noto Sans SemiBold"/>
              </a:rPr>
              <a:t>KHUNG BÁO CÁO TOÀN VĂN</a:t>
            </a:r>
            <a:endParaRPr b="0" i="0" sz="900" u="none" cap="none" strike="noStrike">
              <a:solidFill>
                <a:schemeClr val="dk1"/>
              </a:solidFill>
              <a:latin typeface="Calibri"/>
              <a:ea typeface="Calibri"/>
              <a:cs typeface="Calibri"/>
              <a:sym typeface="Calibri"/>
            </a:endParaRPr>
          </a:p>
        </p:txBody>
      </p:sp>
      <p:sp>
        <p:nvSpPr>
          <p:cNvPr id="48" name="Google Shape;48;p12"/>
          <p:cNvSpPr/>
          <p:nvPr/>
        </p:nvSpPr>
        <p:spPr>
          <a:xfrm>
            <a:off x="419100" y="668164"/>
            <a:ext cx="8305800" cy="32385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450"/>
              <a:buFont typeface="League Spartan"/>
              <a:buNone/>
            </a:pPr>
            <a:r>
              <a:rPr b="1" i="0" lang="en-US" sz="2450" u="none" cap="none" strike="noStrike">
                <a:solidFill>
                  <a:srgbClr val="EFE8D8"/>
                </a:solidFill>
                <a:latin typeface="League Spartan"/>
                <a:ea typeface="League Spartan"/>
                <a:cs typeface="League Spartan"/>
                <a:sym typeface="League Spartan"/>
              </a:rPr>
              <a:t>MỤC LỤC CHƯƠNG TRÌNH TRÌNH BÀY (15 SLIDES)</a:t>
            </a:r>
            <a:endParaRPr b="0" i="0" sz="2450" u="none" cap="none" strike="noStrike">
              <a:solidFill>
                <a:schemeClr val="dk1"/>
              </a:solidFill>
              <a:latin typeface="Calibri"/>
              <a:ea typeface="Calibri"/>
              <a:cs typeface="Calibri"/>
              <a:sym typeface="Calibri"/>
            </a:endParaRPr>
          </a:p>
        </p:txBody>
      </p:sp>
      <p:sp>
        <p:nvSpPr>
          <p:cNvPr id="49" name="Google Shape;49;p12"/>
          <p:cNvSpPr/>
          <p:nvPr/>
        </p:nvSpPr>
        <p:spPr>
          <a:xfrm>
            <a:off x="419038" y="1196483"/>
            <a:ext cx="936600" cy="419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3300"/>
              <a:buFont typeface="Noto Sans"/>
              <a:buNone/>
            </a:pPr>
            <a:r>
              <a:rPr b="1" i="0" lang="en-US" sz="3300" u="none" cap="none" strike="noStrike">
                <a:solidFill>
                  <a:srgbClr val="EFE8D8"/>
                </a:solidFill>
                <a:latin typeface="Noto Sans"/>
                <a:ea typeface="Noto Sans"/>
                <a:cs typeface="Noto Sans"/>
                <a:sym typeface="Noto Sans"/>
              </a:rPr>
              <a:t>01</a:t>
            </a:r>
            <a:endParaRPr b="0" i="0" sz="3300" u="none" cap="none" strike="noStrike">
              <a:solidFill>
                <a:schemeClr val="dk1"/>
              </a:solidFill>
              <a:latin typeface="Calibri"/>
              <a:ea typeface="Calibri"/>
              <a:cs typeface="Calibri"/>
              <a:sym typeface="Calibri"/>
            </a:endParaRPr>
          </a:p>
        </p:txBody>
      </p:sp>
      <p:sp>
        <p:nvSpPr>
          <p:cNvPr id="50" name="Google Shape;50;p12"/>
          <p:cNvSpPr/>
          <p:nvPr/>
        </p:nvSpPr>
        <p:spPr>
          <a:xfrm>
            <a:off x="1012861" y="1325071"/>
            <a:ext cx="3444900" cy="210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PHẦN 1: TỔNG QUAN &amp; SQA</a:t>
            </a:r>
            <a:endParaRPr b="1" i="0" sz="1300" u="none" cap="none" strike="noStrike">
              <a:solidFill>
                <a:schemeClr val="dk1"/>
              </a:solidFill>
              <a:latin typeface="Calibri"/>
              <a:ea typeface="Calibri"/>
              <a:cs typeface="Calibri"/>
              <a:sym typeface="Calibri"/>
            </a:endParaRPr>
          </a:p>
        </p:txBody>
      </p:sp>
      <p:sp>
        <p:nvSpPr>
          <p:cNvPr id="51" name="Google Shape;51;p12"/>
          <p:cNvSpPr/>
          <p:nvPr/>
        </p:nvSpPr>
        <p:spPr>
          <a:xfrm>
            <a:off x="1012861" y="1645051"/>
            <a:ext cx="3444900" cy="639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1-2: Giới thiệu &amp; Mục lục</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3: Đặc thù Sàn Đấu giá &amp; SQA</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4: Kiến trúc System &amp; QA Stack</a:t>
            </a:r>
            <a:endParaRPr b="0" i="0" sz="1200" u="none" cap="none" strike="noStrike">
              <a:solidFill>
                <a:schemeClr val="dk1"/>
              </a:solidFill>
              <a:latin typeface="Calibri"/>
              <a:ea typeface="Calibri"/>
              <a:cs typeface="Calibri"/>
              <a:sym typeface="Calibri"/>
            </a:endParaRPr>
          </a:p>
        </p:txBody>
      </p:sp>
      <p:sp>
        <p:nvSpPr>
          <p:cNvPr id="52" name="Google Shape;52;p12"/>
          <p:cNvSpPr/>
          <p:nvPr/>
        </p:nvSpPr>
        <p:spPr>
          <a:xfrm>
            <a:off x="4686238" y="1196483"/>
            <a:ext cx="936600" cy="419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3300"/>
              <a:buFont typeface="Noto Sans"/>
              <a:buNone/>
            </a:pPr>
            <a:r>
              <a:rPr b="1" i="0" lang="en-US" sz="3300" u="none" cap="none" strike="noStrike">
                <a:solidFill>
                  <a:srgbClr val="EFE8D8"/>
                </a:solidFill>
                <a:latin typeface="Noto Sans"/>
                <a:ea typeface="Noto Sans"/>
                <a:cs typeface="Noto Sans"/>
                <a:sym typeface="Noto Sans"/>
              </a:rPr>
              <a:t>02</a:t>
            </a:r>
            <a:endParaRPr b="0" i="0" sz="3300" u="none" cap="none" strike="noStrike">
              <a:solidFill>
                <a:schemeClr val="dk1"/>
              </a:solidFill>
              <a:latin typeface="Calibri"/>
              <a:ea typeface="Calibri"/>
              <a:cs typeface="Calibri"/>
              <a:sym typeface="Calibri"/>
            </a:endParaRPr>
          </a:p>
        </p:txBody>
      </p:sp>
      <p:sp>
        <p:nvSpPr>
          <p:cNvPr id="53" name="Google Shape;53;p12"/>
          <p:cNvSpPr/>
          <p:nvPr/>
        </p:nvSpPr>
        <p:spPr>
          <a:xfrm>
            <a:off x="5280061" y="1325071"/>
            <a:ext cx="3444900" cy="210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PHẦN 2: BLACK-BOX TESTING</a:t>
            </a:r>
            <a:endParaRPr b="1" i="0" sz="1300" u="none" cap="none" strike="noStrike">
              <a:solidFill>
                <a:schemeClr val="dk1"/>
              </a:solidFill>
              <a:latin typeface="Calibri"/>
              <a:ea typeface="Calibri"/>
              <a:cs typeface="Calibri"/>
              <a:sym typeface="Calibri"/>
            </a:endParaRPr>
          </a:p>
        </p:txBody>
      </p:sp>
      <p:sp>
        <p:nvSpPr>
          <p:cNvPr id="54" name="Google Shape;54;p12"/>
          <p:cNvSpPr/>
          <p:nvPr/>
        </p:nvSpPr>
        <p:spPr>
          <a:xfrm>
            <a:off x="5280061" y="1645051"/>
            <a:ext cx="3444900" cy="639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5: Ma trận 101 Test Cases</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6: Phân tích 4 Lỗi Nghiêm trọng</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7: Phân tích Lỗi Nghiệp vụ &amp; UX</a:t>
            </a:r>
            <a:endParaRPr b="0" i="0" sz="1200" u="none" cap="none" strike="noStrike">
              <a:solidFill>
                <a:schemeClr val="dk1"/>
              </a:solidFill>
              <a:latin typeface="Calibri"/>
              <a:ea typeface="Calibri"/>
              <a:cs typeface="Calibri"/>
              <a:sym typeface="Calibri"/>
            </a:endParaRPr>
          </a:p>
        </p:txBody>
      </p:sp>
      <p:sp>
        <p:nvSpPr>
          <p:cNvPr id="55" name="Google Shape;55;p12"/>
          <p:cNvSpPr/>
          <p:nvPr/>
        </p:nvSpPr>
        <p:spPr>
          <a:xfrm>
            <a:off x="419038" y="2385025"/>
            <a:ext cx="936600" cy="419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3300"/>
              <a:buFont typeface="Noto Sans"/>
              <a:buNone/>
            </a:pPr>
            <a:r>
              <a:rPr b="1" i="0" lang="en-US" sz="3300" u="none" cap="none" strike="noStrike">
                <a:solidFill>
                  <a:srgbClr val="EFE8D8"/>
                </a:solidFill>
                <a:latin typeface="Noto Sans"/>
                <a:ea typeface="Noto Sans"/>
                <a:cs typeface="Noto Sans"/>
                <a:sym typeface="Noto Sans"/>
              </a:rPr>
              <a:t>03</a:t>
            </a:r>
            <a:endParaRPr b="0" i="0" sz="3300" u="none" cap="none" strike="noStrike">
              <a:solidFill>
                <a:schemeClr val="dk1"/>
              </a:solidFill>
              <a:latin typeface="Calibri"/>
              <a:ea typeface="Calibri"/>
              <a:cs typeface="Calibri"/>
              <a:sym typeface="Calibri"/>
            </a:endParaRPr>
          </a:p>
        </p:txBody>
      </p:sp>
      <p:sp>
        <p:nvSpPr>
          <p:cNvPr id="56" name="Google Shape;56;p12"/>
          <p:cNvSpPr/>
          <p:nvPr/>
        </p:nvSpPr>
        <p:spPr>
          <a:xfrm>
            <a:off x="1012861" y="2513612"/>
            <a:ext cx="3444900" cy="210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PHẦN 3: DEEP-DIVE BUG ANALYSIS</a:t>
            </a:r>
            <a:endParaRPr b="1" i="0" sz="1300" u="none" cap="none" strike="noStrike">
              <a:solidFill>
                <a:schemeClr val="dk1"/>
              </a:solidFill>
              <a:latin typeface="Calibri"/>
              <a:ea typeface="Calibri"/>
              <a:cs typeface="Calibri"/>
              <a:sym typeface="Calibri"/>
            </a:endParaRPr>
          </a:p>
        </p:txBody>
      </p:sp>
      <p:sp>
        <p:nvSpPr>
          <p:cNvPr id="57" name="Google Shape;57;p12"/>
          <p:cNvSpPr/>
          <p:nvPr/>
        </p:nvSpPr>
        <p:spPr>
          <a:xfrm>
            <a:off x="1012861" y="2833592"/>
            <a:ext cx="3444900" cy="639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8: Race Condition (Bug_001)</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9: Lỗ hổng RBAC/BOLA (Bug_K08)</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10: Validation &amp; Error Format</a:t>
            </a:r>
            <a:endParaRPr b="0" i="0" sz="1200" u="none" cap="none" strike="noStrike">
              <a:solidFill>
                <a:schemeClr val="dk1"/>
              </a:solidFill>
              <a:latin typeface="Calibri"/>
              <a:ea typeface="Calibri"/>
              <a:cs typeface="Calibri"/>
              <a:sym typeface="Calibri"/>
            </a:endParaRPr>
          </a:p>
        </p:txBody>
      </p:sp>
      <p:sp>
        <p:nvSpPr>
          <p:cNvPr id="58" name="Google Shape;58;p12"/>
          <p:cNvSpPr/>
          <p:nvPr/>
        </p:nvSpPr>
        <p:spPr>
          <a:xfrm>
            <a:off x="4686238" y="2385025"/>
            <a:ext cx="936600" cy="419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3300"/>
              <a:buFont typeface="Noto Sans"/>
              <a:buNone/>
            </a:pPr>
            <a:r>
              <a:rPr b="1" i="0" lang="en-US" sz="3300" u="none" cap="none" strike="noStrike">
                <a:solidFill>
                  <a:srgbClr val="EFE8D8"/>
                </a:solidFill>
                <a:latin typeface="Noto Sans"/>
                <a:ea typeface="Noto Sans"/>
                <a:cs typeface="Noto Sans"/>
                <a:sym typeface="Noto Sans"/>
              </a:rPr>
              <a:t>04</a:t>
            </a:r>
            <a:endParaRPr b="0" i="0" sz="3300" u="none" cap="none" strike="noStrike">
              <a:solidFill>
                <a:schemeClr val="dk1"/>
              </a:solidFill>
              <a:latin typeface="Calibri"/>
              <a:ea typeface="Calibri"/>
              <a:cs typeface="Calibri"/>
              <a:sym typeface="Calibri"/>
            </a:endParaRPr>
          </a:p>
        </p:txBody>
      </p:sp>
      <p:sp>
        <p:nvSpPr>
          <p:cNvPr id="59" name="Google Shape;59;p12"/>
          <p:cNvSpPr/>
          <p:nvPr/>
        </p:nvSpPr>
        <p:spPr>
          <a:xfrm>
            <a:off x="5280061" y="2513612"/>
            <a:ext cx="3444900" cy="210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PHẦN 4: AUTOMATION TESTING</a:t>
            </a:r>
            <a:endParaRPr b="1" i="0" sz="1300" u="none" cap="none" strike="noStrike">
              <a:solidFill>
                <a:schemeClr val="dk1"/>
              </a:solidFill>
              <a:latin typeface="Calibri"/>
              <a:ea typeface="Calibri"/>
              <a:cs typeface="Calibri"/>
              <a:sym typeface="Calibri"/>
            </a:endParaRPr>
          </a:p>
        </p:txBody>
      </p:sp>
      <p:sp>
        <p:nvSpPr>
          <p:cNvPr id="60" name="Google Shape;60;p12"/>
          <p:cNvSpPr/>
          <p:nvPr/>
        </p:nvSpPr>
        <p:spPr>
          <a:xfrm>
            <a:off x="5280061" y="2833592"/>
            <a:ext cx="3444900" cy="4266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11: White-box Jest 100% Coverage</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12: Automated API Test Suite</a:t>
            </a:r>
            <a:endParaRPr b="0" i="0" sz="1200" u="none" cap="none" strike="noStrike">
              <a:solidFill>
                <a:schemeClr val="dk1"/>
              </a:solidFill>
              <a:latin typeface="Calibri"/>
              <a:ea typeface="Calibri"/>
              <a:cs typeface="Calibri"/>
              <a:sym typeface="Calibri"/>
            </a:endParaRPr>
          </a:p>
        </p:txBody>
      </p:sp>
      <p:sp>
        <p:nvSpPr>
          <p:cNvPr id="61" name="Google Shape;61;p12"/>
          <p:cNvSpPr/>
          <p:nvPr/>
        </p:nvSpPr>
        <p:spPr>
          <a:xfrm>
            <a:off x="419038" y="3573566"/>
            <a:ext cx="936600" cy="419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3300"/>
              <a:buFont typeface="Noto Sans"/>
              <a:buNone/>
            </a:pPr>
            <a:r>
              <a:rPr b="1" i="0" lang="en-US" sz="3300" u="none" cap="none" strike="noStrike">
                <a:solidFill>
                  <a:srgbClr val="EFE8D8"/>
                </a:solidFill>
                <a:latin typeface="Noto Sans"/>
                <a:ea typeface="Noto Sans"/>
                <a:cs typeface="Noto Sans"/>
                <a:sym typeface="Noto Sans"/>
              </a:rPr>
              <a:t>05</a:t>
            </a:r>
            <a:endParaRPr b="0" i="0" sz="3300" u="none" cap="none" strike="noStrike">
              <a:solidFill>
                <a:schemeClr val="dk1"/>
              </a:solidFill>
              <a:latin typeface="Calibri"/>
              <a:ea typeface="Calibri"/>
              <a:cs typeface="Calibri"/>
              <a:sym typeface="Calibri"/>
            </a:endParaRPr>
          </a:p>
        </p:txBody>
      </p:sp>
      <p:sp>
        <p:nvSpPr>
          <p:cNvPr id="62" name="Google Shape;62;p12"/>
          <p:cNvSpPr/>
          <p:nvPr/>
        </p:nvSpPr>
        <p:spPr>
          <a:xfrm>
            <a:off x="1012861" y="3702153"/>
            <a:ext cx="3444900" cy="210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PHẦN 5: PERFORMANCE LOAD TEST</a:t>
            </a:r>
            <a:endParaRPr b="1" i="0" sz="1300" u="none" cap="none" strike="noStrike">
              <a:solidFill>
                <a:schemeClr val="dk1"/>
              </a:solidFill>
              <a:latin typeface="Calibri"/>
              <a:ea typeface="Calibri"/>
              <a:cs typeface="Calibri"/>
              <a:sym typeface="Calibri"/>
            </a:endParaRPr>
          </a:p>
        </p:txBody>
      </p:sp>
      <p:sp>
        <p:nvSpPr>
          <p:cNvPr id="63" name="Google Shape;63;p12"/>
          <p:cNvSpPr/>
          <p:nvPr/>
        </p:nvSpPr>
        <p:spPr>
          <a:xfrm>
            <a:off x="1012861" y="4022134"/>
            <a:ext cx="3444900" cy="4266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13: k6 Concurrency Benchmarks</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14: Apache JMeter Load Profiling</a:t>
            </a:r>
            <a:endParaRPr b="0" i="0" sz="1200" u="none" cap="none" strike="noStrike">
              <a:solidFill>
                <a:schemeClr val="dk1"/>
              </a:solidFill>
              <a:latin typeface="Calibri"/>
              <a:ea typeface="Calibri"/>
              <a:cs typeface="Calibri"/>
              <a:sym typeface="Calibri"/>
            </a:endParaRPr>
          </a:p>
        </p:txBody>
      </p:sp>
      <p:sp>
        <p:nvSpPr>
          <p:cNvPr id="64" name="Google Shape;64;p12"/>
          <p:cNvSpPr/>
          <p:nvPr/>
        </p:nvSpPr>
        <p:spPr>
          <a:xfrm>
            <a:off x="4686238" y="3573566"/>
            <a:ext cx="936600" cy="419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3300"/>
              <a:buFont typeface="Noto Sans"/>
              <a:buNone/>
            </a:pPr>
            <a:r>
              <a:rPr b="1" i="0" lang="en-US" sz="3300" u="none" cap="none" strike="noStrike">
                <a:solidFill>
                  <a:srgbClr val="EFE8D8"/>
                </a:solidFill>
                <a:latin typeface="Noto Sans"/>
                <a:ea typeface="Noto Sans"/>
                <a:cs typeface="Noto Sans"/>
                <a:sym typeface="Noto Sans"/>
              </a:rPr>
              <a:t>06</a:t>
            </a:r>
            <a:endParaRPr b="0" i="0" sz="3300" u="none" cap="none" strike="noStrike">
              <a:solidFill>
                <a:schemeClr val="dk1"/>
              </a:solidFill>
              <a:latin typeface="Calibri"/>
              <a:ea typeface="Calibri"/>
              <a:cs typeface="Calibri"/>
              <a:sym typeface="Calibri"/>
            </a:endParaRPr>
          </a:p>
        </p:txBody>
      </p:sp>
      <p:sp>
        <p:nvSpPr>
          <p:cNvPr id="65" name="Google Shape;65;p12"/>
          <p:cNvSpPr/>
          <p:nvPr/>
        </p:nvSpPr>
        <p:spPr>
          <a:xfrm>
            <a:off x="5280061" y="3702153"/>
            <a:ext cx="3444900" cy="210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PHẦN 6: RELEASE GATE &amp; CI/CD</a:t>
            </a:r>
            <a:endParaRPr b="1" i="0" sz="1300" u="none" cap="none" strike="noStrike">
              <a:solidFill>
                <a:schemeClr val="dk1"/>
              </a:solidFill>
              <a:latin typeface="Calibri"/>
              <a:ea typeface="Calibri"/>
              <a:cs typeface="Calibri"/>
              <a:sym typeface="Calibri"/>
            </a:endParaRPr>
          </a:p>
        </p:txBody>
      </p:sp>
      <p:sp>
        <p:nvSpPr>
          <p:cNvPr id="66" name="Google Shape;66;p12"/>
          <p:cNvSpPr/>
          <p:nvPr/>
        </p:nvSpPr>
        <p:spPr>
          <a:xfrm>
            <a:off x="5280061" y="4022134"/>
            <a:ext cx="3444900" cy="2133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Slide 15: Quality Gate &amp; CI/CD Pipeline</a:t>
            </a:r>
            <a:endParaRPr b="0" i="0" sz="1200" u="none" cap="none" strike="noStrike">
              <a:solidFill>
                <a:schemeClr val="dk1"/>
              </a:solidFill>
              <a:latin typeface="Calibri"/>
              <a:ea typeface="Calibri"/>
              <a:cs typeface="Calibri"/>
              <a:sym typeface="Calibri"/>
            </a:endParaRPr>
          </a:p>
        </p:txBody>
      </p:sp>
      <p:sp>
        <p:nvSpPr>
          <p:cNvPr id="67" name="Google Shape;67;p12"/>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3"/>
          <p:cNvSpPr/>
          <p:nvPr/>
        </p:nvSpPr>
        <p:spPr>
          <a:xfrm>
            <a:off x="419100" y="419100"/>
            <a:ext cx="87249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Noto Sans SemiBold"/>
              <a:buNone/>
            </a:pPr>
            <a:r>
              <a:rPr b="0" i="0" lang="en-US" sz="900" u="none" cap="none" strike="noStrike">
                <a:solidFill>
                  <a:srgbClr val="A39C8E"/>
                </a:solidFill>
                <a:latin typeface="Noto Sans SemiBold"/>
                <a:ea typeface="Noto Sans SemiBold"/>
                <a:cs typeface="Noto Sans SemiBold"/>
                <a:sym typeface="Noto Sans SemiBold"/>
              </a:rPr>
              <a:t>PHẦN I: TỔNG QUAN BÀI TOÁN &amp; TIÊU CHUẨN SQA</a:t>
            </a:r>
            <a:endParaRPr b="0" i="0" sz="900" u="none" cap="none" strike="noStrike">
              <a:solidFill>
                <a:schemeClr val="dk1"/>
              </a:solidFill>
              <a:latin typeface="Calibri"/>
              <a:ea typeface="Calibri"/>
              <a:cs typeface="Calibri"/>
              <a:sym typeface="Calibri"/>
            </a:endParaRPr>
          </a:p>
        </p:txBody>
      </p:sp>
      <p:sp>
        <p:nvSpPr>
          <p:cNvPr id="74" name="Google Shape;74;p13"/>
          <p:cNvSpPr/>
          <p:nvPr/>
        </p:nvSpPr>
        <p:spPr>
          <a:xfrm>
            <a:off x="419100" y="668164"/>
            <a:ext cx="8305800" cy="6477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500"/>
              <a:buFont typeface="League Spartan"/>
              <a:buNone/>
            </a:pPr>
            <a:r>
              <a:rPr b="1" i="0" lang="en-US" sz="2500" u="none" cap="none" strike="noStrike">
                <a:solidFill>
                  <a:srgbClr val="EFE8D8"/>
                </a:solidFill>
                <a:latin typeface="League Spartan"/>
                <a:ea typeface="League Spartan"/>
                <a:cs typeface="League Spartan"/>
                <a:sym typeface="League Spartan"/>
              </a:rPr>
              <a:t>ĐẶC THÙ HỆ THỐNG ĐẤU GIÁ VÀ YÊU CẦU ĐẢM BẢO CHẤT LƯỢNG</a:t>
            </a:r>
            <a:endParaRPr b="0" i="0" sz="2500" u="none" cap="none" strike="noStrike">
              <a:solidFill>
                <a:schemeClr val="dk1"/>
              </a:solidFill>
              <a:latin typeface="Calibri"/>
              <a:ea typeface="Calibri"/>
              <a:cs typeface="Calibri"/>
              <a:sym typeface="Calibri"/>
            </a:endParaRPr>
          </a:p>
        </p:txBody>
      </p:sp>
      <p:sp>
        <p:nvSpPr>
          <p:cNvPr id="75" name="Google Shape;75;p13"/>
          <p:cNvSpPr/>
          <p:nvPr/>
        </p:nvSpPr>
        <p:spPr>
          <a:xfrm>
            <a:off x="419100" y="1499753"/>
            <a:ext cx="2692500" cy="420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1. An toàn Dòng tiền &amp; Toàn vẹn Ví (Financial Integrity)</a:t>
            </a:r>
            <a:endParaRPr b="1" i="0" sz="1300" u="none" cap="none" strike="noStrike">
              <a:solidFill>
                <a:schemeClr val="dk1"/>
              </a:solidFill>
              <a:latin typeface="Calibri"/>
              <a:ea typeface="Calibri"/>
              <a:cs typeface="Calibri"/>
              <a:sym typeface="Calibri"/>
            </a:endParaRPr>
          </a:p>
        </p:txBody>
      </p:sp>
      <p:sp>
        <p:nvSpPr>
          <p:cNvPr id="76" name="Google Shape;76;p13"/>
          <p:cNvSpPr/>
          <p:nvPr/>
        </p:nvSpPr>
        <p:spPr>
          <a:xfrm>
            <a:off x="419100" y="2068277"/>
            <a:ext cx="888300" cy="28500"/>
          </a:xfrm>
          <a:prstGeom prst="roundRect">
            <a:avLst>
              <a:gd fmla="val 50000" name="adj"/>
            </a:avLst>
          </a:prstGeom>
          <a:solidFill>
            <a:srgbClr val="E85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419100" y="2225438"/>
            <a:ext cx="2692500" cy="24372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Hệ thống quản lý trực tiếp dòng tiền đặt cọc (10% giá khởi điểm). Mọi thao tác phong tỏa (freeze), cấn trừ đơn hàng, hay hoàn cọc (release) đều đòi hỏi độ chính xác tuyệt đối. Lỗi tính toán số thực Javascript hay quên hoàn cọc đều đe dọa nghiêm trọng đến tài sản người dùng.</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Mục tiêu SQA:</a:t>
            </a:r>
            <a:r>
              <a:rPr b="0" i="0" lang="en-US" sz="1200" u="none" cap="none" strike="noStrike">
                <a:solidFill>
                  <a:srgbClr val="D9D3C6"/>
                </a:solidFill>
                <a:latin typeface="Noto Sans"/>
                <a:ea typeface="Noto Sans"/>
                <a:cs typeface="Noto Sans"/>
                <a:sym typeface="Noto Sans"/>
              </a:rPr>
              <a:t> Zero financial loss, hoàn tiền cọc tự động 100% cho người thua.</a:t>
            </a:r>
            <a:endParaRPr b="0" i="0" sz="1200" u="none" cap="none" strike="noStrike">
              <a:solidFill>
                <a:schemeClr val="dk1"/>
              </a:solidFill>
              <a:latin typeface="Calibri"/>
              <a:ea typeface="Calibri"/>
              <a:cs typeface="Calibri"/>
              <a:sym typeface="Calibri"/>
            </a:endParaRPr>
          </a:p>
        </p:txBody>
      </p:sp>
      <p:sp>
        <p:nvSpPr>
          <p:cNvPr id="78" name="Google Shape;78;p13"/>
          <p:cNvSpPr/>
          <p:nvPr/>
        </p:nvSpPr>
        <p:spPr>
          <a:xfrm>
            <a:off x="3225775" y="1499753"/>
            <a:ext cx="2692500" cy="420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2. Tranh chấp Đặt giá Đồng thời (Concurrency Bidding)</a:t>
            </a:r>
            <a:endParaRPr b="1" i="0" sz="1300" u="none" cap="none" strike="noStrike">
              <a:solidFill>
                <a:schemeClr val="dk1"/>
              </a:solidFill>
              <a:latin typeface="Calibri"/>
              <a:ea typeface="Calibri"/>
              <a:cs typeface="Calibri"/>
              <a:sym typeface="Calibri"/>
            </a:endParaRPr>
          </a:p>
        </p:txBody>
      </p:sp>
      <p:sp>
        <p:nvSpPr>
          <p:cNvPr id="79" name="Google Shape;79;p13"/>
          <p:cNvSpPr/>
          <p:nvPr/>
        </p:nvSpPr>
        <p:spPr>
          <a:xfrm>
            <a:off x="3225775" y="2068277"/>
            <a:ext cx="888300" cy="28500"/>
          </a:xfrm>
          <a:prstGeom prst="roundRect">
            <a:avLst>
              <a:gd fmla="val 50000" name="adj"/>
            </a:avLst>
          </a:prstGeom>
          <a:solidFill>
            <a:srgbClr val="E85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3225775" y="2225438"/>
            <a:ext cx="2692500" cy="24372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Tại thời điểm chốt phiên (Last-second bidding), hàng chục người dùng cùng nhấn đặt giá tại cùng một millisecond. Hệ thống phải đảm bảo tính tuần tự tuyệt đối (Atomic Operation), loại bỏ hoàn toàn hiện tượng ghi đè giá (Overwriting) hay chấp nhận 2 bước giá bằng nhau.</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Mục tiêu SQA:</a:t>
            </a:r>
            <a:r>
              <a:rPr b="0" i="0" lang="en-US" sz="1200" u="none" cap="none" strike="noStrike">
                <a:solidFill>
                  <a:srgbClr val="D9D3C6"/>
                </a:solidFill>
                <a:latin typeface="Noto Sans"/>
                <a:ea typeface="Noto Sans"/>
                <a:cs typeface="Noto Sans"/>
                <a:sym typeface="Noto Sans"/>
              </a:rPr>
              <a:t> Thread-safe transaction, xử lý chuẩn xác bằng Distributed Lock.</a:t>
            </a:r>
            <a:endParaRPr b="0" i="0" sz="1200" u="none" cap="none" strike="noStrike">
              <a:solidFill>
                <a:schemeClr val="dk1"/>
              </a:solidFill>
              <a:latin typeface="Calibri"/>
              <a:ea typeface="Calibri"/>
              <a:cs typeface="Calibri"/>
              <a:sym typeface="Calibri"/>
            </a:endParaRPr>
          </a:p>
        </p:txBody>
      </p:sp>
      <p:sp>
        <p:nvSpPr>
          <p:cNvPr id="81" name="Google Shape;81;p13"/>
          <p:cNvSpPr/>
          <p:nvPr/>
        </p:nvSpPr>
        <p:spPr>
          <a:xfrm>
            <a:off x="6032450" y="1499753"/>
            <a:ext cx="2692500" cy="420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1" i="0" lang="en-US" sz="1300" u="none" cap="none" strike="noStrike">
                <a:solidFill>
                  <a:srgbClr val="D9D3C6"/>
                </a:solidFill>
                <a:latin typeface="Noto Sans"/>
                <a:ea typeface="Noto Sans"/>
                <a:cs typeface="Noto Sans"/>
                <a:sym typeface="Noto Sans"/>
              </a:rPr>
              <a:t>3. Bảo mật Phân quyền &amp; Kiểm soát Quy chế</a:t>
            </a:r>
            <a:endParaRPr b="1" i="0" sz="1300" u="none" cap="none" strike="noStrike">
              <a:solidFill>
                <a:schemeClr val="dk1"/>
              </a:solidFill>
              <a:latin typeface="Calibri"/>
              <a:ea typeface="Calibri"/>
              <a:cs typeface="Calibri"/>
              <a:sym typeface="Calibri"/>
            </a:endParaRPr>
          </a:p>
        </p:txBody>
      </p:sp>
      <p:sp>
        <p:nvSpPr>
          <p:cNvPr id="82" name="Google Shape;82;p13"/>
          <p:cNvSpPr/>
          <p:nvPr/>
        </p:nvSpPr>
        <p:spPr>
          <a:xfrm>
            <a:off x="6032450" y="2068277"/>
            <a:ext cx="888600" cy="28500"/>
          </a:xfrm>
          <a:prstGeom prst="roundRect">
            <a:avLst>
              <a:gd fmla="val 50000" name="adj"/>
            </a:avLst>
          </a:prstGeom>
          <a:solidFill>
            <a:srgbClr val="E85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6032450" y="2225438"/>
            <a:ext cx="2692500" cy="2223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Ngăn chặn triệt để lỗ hổng BOLA (Broken Object Level Authorization) không cho Bidder hủy phiên, không cho Seller tự sửa giá khi phiên đang Active, và đảm bảo Token JWT của các tài khoản bị Admin khóa (Banned) phải bị thu hồi ngay lập tức.</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Mục tiêu SQA:</a:t>
            </a:r>
            <a:r>
              <a:rPr b="0" i="0" lang="en-US" sz="1200" u="none" cap="none" strike="noStrike">
                <a:solidFill>
                  <a:srgbClr val="D9D3C6"/>
                </a:solidFill>
                <a:latin typeface="Noto Sans"/>
                <a:ea typeface="Noto Sans"/>
                <a:cs typeface="Noto Sans"/>
                <a:sym typeface="Noto Sans"/>
              </a:rPr>
              <a:t> Chặt chẽ 100% RBAC Middleware trên toàn bộ RESTful Endpoints.</a:t>
            </a:r>
            <a:endParaRPr b="0" i="0" sz="1200" u="none" cap="none" strike="noStrike">
              <a:solidFill>
                <a:schemeClr val="dk1"/>
              </a:solidFill>
              <a:latin typeface="Calibri"/>
              <a:ea typeface="Calibri"/>
              <a:cs typeface="Calibri"/>
              <a:sym typeface="Calibri"/>
            </a:endParaRPr>
          </a:p>
        </p:txBody>
      </p:sp>
      <p:sp>
        <p:nvSpPr>
          <p:cNvPr id="84" name="Google Shape;84;p13"/>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p:nvPr/>
        </p:nvSpPr>
        <p:spPr>
          <a:xfrm>
            <a:off x="419100" y="419100"/>
            <a:ext cx="87249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Noto Sans SemiBold"/>
              <a:buNone/>
            </a:pPr>
            <a:r>
              <a:rPr b="0" i="0" lang="en-US" sz="900" u="none" cap="none" strike="noStrike">
                <a:solidFill>
                  <a:srgbClr val="A39C8E"/>
                </a:solidFill>
                <a:latin typeface="Noto Sans SemiBold"/>
                <a:ea typeface="Noto Sans SemiBold"/>
                <a:cs typeface="Noto Sans SemiBold"/>
                <a:sym typeface="Noto Sans SemiBold"/>
              </a:rPr>
              <a:t>PHẦN I: KIẾN TRÚC HỆ THỐNG &amp; CÔNG CỤ QA</a:t>
            </a:r>
            <a:endParaRPr b="0" i="0" sz="900" u="none" cap="none" strike="noStrike">
              <a:solidFill>
                <a:schemeClr val="dk1"/>
              </a:solidFill>
              <a:latin typeface="Calibri"/>
              <a:ea typeface="Calibri"/>
              <a:cs typeface="Calibri"/>
              <a:sym typeface="Calibri"/>
            </a:endParaRPr>
          </a:p>
        </p:txBody>
      </p:sp>
      <p:sp>
        <p:nvSpPr>
          <p:cNvPr id="91" name="Google Shape;91;p14"/>
          <p:cNvSpPr/>
          <p:nvPr/>
        </p:nvSpPr>
        <p:spPr>
          <a:xfrm>
            <a:off x="419100" y="668164"/>
            <a:ext cx="8305800" cy="6477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500"/>
              <a:buFont typeface="League Spartan"/>
              <a:buNone/>
            </a:pPr>
            <a:r>
              <a:rPr b="1" i="0" lang="en-US" sz="2200" u="none" cap="none" strike="noStrike">
                <a:solidFill>
                  <a:srgbClr val="EFE8D8"/>
                </a:solidFill>
                <a:latin typeface="League Spartan"/>
                <a:ea typeface="League Spartan"/>
                <a:cs typeface="League Spartan"/>
                <a:sym typeface="League Spartan"/>
              </a:rPr>
              <a:t>HỆ SINH THÁI CÔNG NGHỆ BÁO CÁO &amp; CHUỖI CÔNG CỤ SQA</a:t>
            </a:r>
            <a:endParaRPr b="0" i="0" sz="2200" u="none" cap="none" strike="noStrike">
              <a:solidFill>
                <a:schemeClr val="dk1"/>
              </a:solidFill>
              <a:latin typeface="Calibri"/>
              <a:ea typeface="Calibri"/>
              <a:cs typeface="Calibri"/>
              <a:sym typeface="Calibri"/>
            </a:endParaRPr>
          </a:p>
        </p:txBody>
      </p:sp>
      <p:sp>
        <p:nvSpPr>
          <p:cNvPr id="92" name="Google Shape;92;p14"/>
          <p:cNvSpPr/>
          <p:nvPr/>
        </p:nvSpPr>
        <p:spPr>
          <a:xfrm>
            <a:off x="419100" y="1315883"/>
            <a:ext cx="3716100" cy="3306000"/>
          </a:xfrm>
          <a:prstGeom prst="roundRect">
            <a:avLst>
              <a:gd fmla="val 691"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590550" y="1411133"/>
            <a:ext cx="3373200" cy="495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0" i="0" lang="en-US" sz="1500" u="none" cap="none" strike="noStrike">
                <a:solidFill>
                  <a:srgbClr val="D9D3C6"/>
                </a:solidFill>
                <a:latin typeface="Noto Sans"/>
                <a:ea typeface="Noto Sans"/>
                <a:cs typeface="Noto Sans"/>
                <a:sym typeface="Noto Sans"/>
              </a:rPr>
              <a:t>Nền tảng Ứng dụng (System Tech Stack)</a:t>
            </a:r>
            <a:endParaRPr b="0" i="0" sz="1500" u="none" cap="none" strike="noStrike">
              <a:solidFill>
                <a:schemeClr val="dk1"/>
              </a:solidFill>
              <a:latin typeface="Calibri"/>
              <a:ea typeface="Calibri"/>
              <a:cs typeface="Calibri"/>
              <a:sym typeface="Calibri"/>
            </a:endParaRPr>
          </a:p>
        </p:txBody>
      </p:sp>
      <p:sp>
        <p:nvSpPr>
          <p:cNvPr id="94" name="Google Shape;94;p14"/>
          <p:cNvSpPr/>
          <p:nvPr/>
        </p:nvSpPr>
        <p:spPr>
          <a:xfrm>
            <a:off x="590550" y="2054070"/>
            <a:ext cx="1113000" cy="28500"/>
          </a:xfrm>
          <a:prstGeom prst="roundRect">
            <a:avLst>
              <a:gd fmla="val 50000" name="adj"/>
            </a:avLst>
          </a:prstGeom>
          <a:solidFill>
            <a:srgbClr val="E85A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590550" y="2211233"/>
            <a:ext cx="3373200" cy="2286000"/>
          </a:xfrm>
          <a:prstGeom prst="rect">
            <a:avLst/>
          </a:prstGeom>
          <a:noFill/>
          <a:ln>
            <a:noFill/>
          </a:ln>
        </p:spPr>
        <p:txBody>
          <a:bodyPr anchorCtr="0" anchor="t" bIns="0" lIns="0" spcFirstLastPara="1" rIns="0" wrap="square" tIns="0">
            <a:noAutofit/>
          </a:bodyPr>
          <a:lstStyle/>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Backend Core:</a:t>
            </a:r>
            <a:r>
              <a:rPr b="0" i="0" lang="en-US" sz="1200" u="none" cap="none" strike="noStrike">
                <a:solidFill>
                  <a:srgbClr val="D9D3C6"/>
                </a:solidFill>
                <a:latin typeface="Noto Sans"/>
                <a:ea typeface="Noto Sans"/>
                <a:cs typeface="Noto Sans"/>
                <a:sym typeface="Noto Sans"/>
              </a:rPr>
              <a:t> Node.js, Express.js RESTful Framework.</a:t>
            </a:r>
            <a:endParaRPr b="0" i="0" sz="1200" u="none" cap="none" strike="noStrike">
              <a:solidFill>
                <a:schemeClr val="dk1"/>
              </a:solidFill>
              <a:latin typeface="Calibri"/>
              <a:ea typeface="Calibri"/>
              <a:cs typeface="Calibri"/>
              <a:sym typeface="Calibri"/>
            </a:endParaRPr>
          </a:p>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Database Layer:</a:t>
            </a:r>
            <a:r>
              <a:rPr b="0" i="0" lang="en-US" sz="1200" u="none" cap="none" strike="noStrike">
                <a:solidFill>
                  <a:srgbClr val="D9D3C6"/>
                </a:solidFill>
                <a:latin typeface="Noto Sans"/>
                <a:ea typeface="Noto Sans"/>
                <a:cs typeface="Noto Sans"/>
                <a:sym typeface="Noto Sans"/>
              </a:rPr>
              <a:t> MongoDB (NoSQL) &amp; PostgreSQL.</a:t>
            </a:r>
            <a:endParaRPr b="0" i="0" sz="1200" u="none" cap="none" strike="noStrike">
              <a:solidFill>
                <a:schemeClr val="dk1"/>
              </a:solidFill>
              <a:latin typeface="Calibri"/>
              <a:ea typeface="Calibri"/>
              <a:cs typeface="Calibri"/>
              <a:sym typeface="Calibri"/>
            </a:endParaRPr>
          </a:p>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Caching &amp; Locking:</a:t>
            </a:r>
            <a:r>
              <a:rPr b="0" i="0" lang="en-US" sz="1200" u="none" cap="none" strike="noStrike">
                <a:solidFill>
                  <a:srgbClr val="D9D3C6"/>
                </a:solidFill>
                <a:latin typeface="Noto Sans"/>
                <a:ea typeface="Noto Sans"/>
                <a:cs typeface="Noto Sans"/>
                <a:sym typeface="Noto Sans"/>
              </a:rPr>
              <a:t> Redis (Thuật toán Redlock).</a:t>
            </a:r>
            <a:endParaRPr b="0" i="0" sz="1200" u="none" cap="none" strike="noStrike">
              <a:solidFill>
                <a:schemeClr val="dk1"/>
              </a:solidFill>
              <a:latin typeface="Calibri"/>
              <a:ea typeface="Calibri"/>
              <a:cs typeface="Calibri"/>
              <a:sym typeface="Calibri"/>
            </a:endParaRPr>
          </a:p>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Frontend UI:</a:t>
            </a:r>
            <a:r>
              <a:rPr b="0" i="0" lang="en-US" sz="1200" u="none" cap="none" strike="noStrike">
                <a:solidFill>
                  <a:srgbClr val="D9D3C6"/>
                </a:solidFill>
                <a:latin typeface="Noto Sans"/>
                <a:ea typeface="Noto Sans"/>
                <a:cs typeface="Noto Sans"/>
                <a:sym typeface="Noto Sans"/>
              </a:rPr>
              <a:t> Tailwind CSS, Ant Design Framework.</a:t>
            </a:r>
            <a:endParaRPr b="0" i="0" sz="1200" u="none" cap="none" strike="noStrike">
              <a:solidFill>
                <a:schemeClr val="dk1"/>
              </a:solidFill>
              <a:latin typeface="Calibri"/>
              <a:ea typeface="Calibri"/>
              <a:cs typeface="Calibri"/>
              <a:sym typeface="Calibri"/>
            </a:endParaRPr>
          </a:p>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Deployment Platform:</a:t>
            </a:r>
            <a:r>
              <a:rPr b="0" i="0" lang="en-US" sz="1200" u="none" cap="none" strike="noStrike">
                <a:solidFill>
                  <a:srgbClr val="D9D3C6"/>
                </a:solidFill>
                <a:latin typeface="Noto Sans"/>
                <a:ea typeface="Noto Sans"/>
                <a:cs typeface="Noto Sans"/>
                <a:sym typeface="Noto Sans"/>
              </a:rPr>
              <a:t> Render Cloud Platform (Staging).</a:t>
            </a:r>
            <a:endParaRPr b="0" i="0" sz="1200" u="none" cap="none" strike="noStrike">
              <a:solidFill>
                <a:schemeClr val="dk1"/>
              </a:solidFill>
              <a:latin typeface="Calibri"/>
              <a:ea typeface="Calibri"/>
              <a:cs typeface="Calibri"/>
              <a:sym typeface="Calibri"/>
            </a:endParaRPr>
          </a:p>
        </p:txBody>
      </p:sp>
      <p:sp>
        <p:nvSpPr>
          <p:cNvPr id="96" name="Google Shape;96;p14"/>
          <p:cNvSpPr/>
          <p:nvPr/>
        </p:nvSpPr>
        <p:spPr>
          <a:xfrm>
            <a:off x="4477941" y="1315883"/>
            <a:ext cx="4247100" cy="3306000"/>
          </a:xfrm>
          <a:prstGeom prst="roundRect">
            <a:avLst>
              <a:gd fmla="val 691"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4649391" y="1411133"/>
            <a:ext cx="3904200" cy="495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0" i="0" lang="en-US" sz="1500" u="none" cap="none" strike="noStrike">
                <a:solidFill>
                  <a:srgbClr val="D9D3C6"/>
                </a:solidFill>
                <a:latin typeface="Noto Sans"/>
                <a:ea typeface="Noto Sans"/>
                <a:cs typeface="Noto Sans"/>
                <a:sym typeface="Noto Sans"/>
              </a:rPr>
              <a:t>Bộ công cụ Đảm bảo Chất lượng (QA Testing Tools)</a:t>
            </a:r>
            <a:endParaRPr b="0" i="0" sz="1500" u="none" cap="none" strike="noStrike">
              <a:solidFill>
                <a:schemeClr val="dk1"/>
              </a:solidFill>
              <a:latin typeface="Calibri"/>
              <a:ea typeface="Calibri"/>
              <a:cs typeface="Calibri"/>
              <a:sym typeface="Calibri"/>
            </a:endParaRPr>
          </a:p>
        </p:txBody>
      </p:sp>
      <p:sp>
        <p:nvSpPr>
          <p:cNvPr id="98" name="Google Shape;98;p14"/>
          <p:cNvSpPr/>
          <p:nvPr/>
        </p:nvSpPr>
        <p:spPr>
          <a:xfrm>
            <a:off x="4649391" y="2054070"/>
            <a:ext cx="1288200" cy="28500"/>
          </a:xfrm>
          <a:prstGeom prst="roundRect">
            <a:avLst>
              <a:gd fmla="val 50000" name="adj"/>
            </a:avLst>
          </a:prstGeom>
          <a:solidFill>
            <a:srgbClr val="E3A7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4649391" y="2211233"/>
            <a:ext cx="3904200" cy="1821000"/>
          </a:xfrm>
          <a:prstGeom prst="rect">
            <a:avLst/>
          </a:prstGeom>
          <a:noFill/>
          <a:ln>
            <a:noFill/>
          </a:ln>
        </p:spPr>
        <p:txBody>
          <a:bodyPr anchorCtr="0" anchor="t" bIns="0" lIns="0" spcFirstLastPara="1" rIns="0" wrap="square" tIns="0">
            <a:noAutofit/>
          </a:bodyPr>
          <a:lstStyle/>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White-box Unit Testing:</a:t>
            </a:r>
            <a:r>
              <a:rPr b="0" i="0" lang="en-US" sz="1200" u="none" cap="none" strike="noStrike">
                <a:solidFill>
                  <a:srgbClr val="D9D3C6"/>
                </a:solidFill>
                <a:latin typeface="Noto Sans"/>
                <a:ea typeface="Noto Sans"/>
                <a:cs typeface="Noto Sans"/>
                <a:sym typeface="Noto Sans"/>
              </a:rPr>
              <a:t> Jest Test Runner (Statements, Branch, Lines).</a:t>
            </a:r>
            <a:endParaRPr b="0" i="0" sz="1200" u="none" cap="none" strike="noStrike">
              <a:solidFill>
                <a:schemeClr val="dk1"/>
              </a:solidFill>
              <a:latin typeface="Calibri"/>
              <a:ea typeface="Calibri"/>
              <a:cs typeface="Calibri"/>
              <a:sym typeface="Calibri"/>
            </a:endParaRPr>
          </a:p>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API Automated Testing:</a:t>
            </a:r>
            <a:r>
              <a:rPr b="0" i="0" lang="en-US" sz="1200" u="none" cap="none" strike="noStrike">
                <a:solidFill>
                  <a:srgbClr val="D9D3C6"/>
                </a:solidFill>
                <a:latin typeface="Noto Sans"/>
                <a:ea typeface="Noto Sans"/>
                <a:cs typeface="Noto Sans"/>
                <a:sym typeface="Noto Sans"/>
              </a:rPr>
              <a:t> Jest + Axios REST Suite &amp; Postman v2.1.</a:t>
            </a:r>
            <a:endParaRPr b="0" i="0" sz="1200" u="none" cap="none" strike="noStrike">
              <a:solidFill>
                <a:schemeClr val="dk1"/>
              </a:solidFill>
              <a:latin typeface="Calibri"/>
              <a:ea typeface="Calibri"/>
              <a:cs typeface="Calibri"/>
              <a:sym typeface="Calibri"/>
            </a:endParaRPr>
          </a:p>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Performance &amp; Load Testing:</a:t>
            </a:r>
            <a:r>
              <a:rPr b="0" i="0" lang="en-US" sz="1200" u="none" cap="none" strike="noStrike">
                <a:solidFill>
                  <a:srgbClr val="D9D3C6"/>
                </a:solidFill>
                <a:latin typeface="Noto Sans"/>
                <a:ea typeface="Noto Sans"/>
                <a:cs typeface="Noto Sans"/>
                <a:sym typeface="Noto Sans"/>
              </a:rPr>
              <a:t> Grafana k6 (Concurrency) &amp; Apache JMeter.</a:t>
            </a:r>
            <a:endParaRPr b="0" i="0" sz="1200" u="none" cap="none" strike="noStrike">
              <a:solidFill>
                <a:schemeClr val="dk1"/>
              </a:solidFill>
              <a:latin typeface="Calibri"/>
              <a:ea typeface="Calibri"/>
              <a:cs typeface="Calibri"/>
              <a:sym typeface="Calibri"/>
            </a:endParaRPr>
          </a:p>
          <a:p>
            <a:pPr indent="-243840" lvl="0" marL="243840" marR="0" rtl="0" algn="l">
              <a:lnSpc>
                <a:spcPct val="117000"/>
              </a:lnSpc>
              <a:spcBef>
                <a:spcPts val="0"/>
              </a:spcBef>
              <a:spcAft>
                <a:spcPts val="0"/>
              </a:spcAft>
              <a:buClr>
                <a:srgbClr val="D9D3C6"/>
              </a:buClr>
              <a:buSzPts val="1200"/>
              <a:buFont typeface="Noto Sans"/>
              <a:buChar char="•"/>
            </a:pPr>
            <a:r>
              <a:rPr b="1" i="0" lang="en-US" sz="1200" u="none" cap="none" strike="noStrike">
                <a:solidFill>
                  <a:srgbClr val="D9D3C6"/>
                </a:solidFill>
                <a:latin typeface="Noto Sans"/>
                <a:ea typeface="Noto Sans"/>
                <a:cs typeface="Noto Sans"/>
                <a:sym typeface="Noto Sans"/>
              </a:rPr>
              <a:t>Defect Tracking Framework:</a:t>
            </a:r>
            <a:r>
              <a:rPr b="0" i="0" lang="en-US" sz="1200" u="none" cap="none" strike="noStrike">
                <a:solidFill>
                  <a:srgbClr val="D9D3C6"/>
                </a:solidFill>
                <a:latin typeface="Noto Sans"/>
                <a:ea typeface="Noto Sans"/>
                <a:cs typeface="Noto Sans"/>
                <a:sym typeface="Noto Sans"/>
              </a:rPr>
              <a:t> Defect Log Matrix (Critical to Low).</a:t>
            </a:r>
            <a:endParaRPr b="0" i="0" sz="1200" u="none" cap="none" strike="noStrike">
              <a:solidFill>
                <a:schemeClr val="dk1"/>
              </a:solidFill>
              <a:latin typeface="Calibri"/>
              <a:ea typeface="Calibri"/>
              <a:cs typeface="Calibri"/>
              <a:sym typeface="Calibri"/>
            </a:endParaRPr>
          </a:p>
        </p:txBody>
      </p:sp>
      <p:sp>
        <p:nvSpPr>
          <p:cNvPr id="100" name="Google Shape;100;p14"/>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p:nvPr/>
        </p:nvSpPr>
        <p:spPr>
          <a:xfrm>
            <a:off x="419100" y="419100"/>
            <a:ext cx="87249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Noto Sans SemiBold"/>
              <a:buNone/>
            </a:pPr>
            <a:r>
              <a:rPr b="0" i="0" lang="en-US" sz="900" u="none" cap="none" strike="noStrike">
                <a:solidFill>
                  <a:srgbClr val="A39C8E"/>
                </a:solidFill>
                <a:latin typeface="Noto Sans SemiBold"/>
                <a:ea typeface="Noto Sans SemiBold"/>
                <a:cs typeface="Noto Sans SemiBold"/>
                <a:sym typeface="Noto Sans SemiBold"/>
              </a:rPr>
              <a:t>PHẦN II: KIỂM THỬ THỦ CÔNG HỘP ĐEN (BLACK-BOX TESTING)</a:t>
            </a:r>
            <a:endParaRPr b="0" i="0" sz="900" u="none" cap="none" strike="noStrike">
              <a:solidFill>
                <a:schemeClr val="dk1"/>
              </a:solidFill>
              <a:latin typeface="Calibri"/>
              <a:ea typeface="Calibri"/>
              <a:cs typeface="Calibri"/>
              <a:sym typeface="Calibri"/>
            </a:endParaRPr>
          </a:p>
        </p:txBody>
      </p:sp>
      <p:sp>
        <p:nvSpPr>
          <p:cNvPr id="107" name="Google Shape;107;p15"/>
          <p:cNvSpPr/>
          <p:nvPr/>
        </p:nvSpPr>
        <p:spPr>
          <a:xfrm>
            <a:off x="419100" y="774008"/>
            <a:ext cx="8305800" cy="247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1" i="0" lang="en-US" sz="1700" u="none" cap="none" strike="noStrike">
                <a:solidFill>
                  <a:srgbClr val="D9D3C6"/>
                </a:solidFill>
                <a:latin typeface="Noto Sans"/>
                <a:ea typeface="Noto Sans"/>
                <a:cs typeface="Noto Sans"/>
                <a:sym typeface="Noto Sans"/>
              </a:rPr>
              <a:t>MA TRẬN KẾT QUẢ THỰC THI 101 TEST CASES THEO 8 PHÂN HỆ</a:t>
            </a:r>
            <a:endParaRPr b="1" i="0" sz="1700" u="none" cap="none" strike="noStrike">
              <a:solidFill>
                <a:schemeClr val="dk1"/>
              </a:solidFill>
              <a:latin typeface="Calibri"/>
              <a:ea typeface="Calibri"/>
              <a:cs typeface="Calibri"/>
              <a:sym typeface="Calibri"/>
            </a:endParaRPr>
          </a:p>
        </p:txBody>
      </p:sp>
      <p:graphicFrame>
        <p:nvGraphicFramePr>
          <p:cNvPr id="108" name="Google Shape;108;p15"/>
          <p:cNvGraphicFramePr/>
          <p:nvPr/>
        </p:nvGraphicFramePr>
        <p:xfrm>
          <a:off x="419113" y="1382320"/>
          <a:ext cx="3000000" cy="3000000"/>
        </p:xfrm>
        <a:graphic>
          <a:graphicData uri="http://schemas.openxmlformats.org/drawingml/2006/table">
            <a:tbl>
              <a:tblPr>
                <a:noFill/>
                <a:tableStyleId>{61B79C1C-6812-4DCE-A759-B7A6D6BC150C}</a:tableStyleId>
              </a:tblPr>
              <a:tblGrid>
                <a:gridCol w="488525"/>
                <a:gridCol w="3094350"/>
                <a:gridCol w="732825"/>
                <a:gridCol w="651425"/>
                <a:gridCol w="569925"/>
                <a:gridCol w="977125"/>
                <a:gridCol w="1791600"/>
              </a:tblGrid>
              <a:tr h="280025">
                <a:tc>
                  <a:txBody>
                    <a:bodyPr/>
                    <a:lstStyle/>
                    <a:p>
                      <a:pPr indent="0" lvl="0" marL="0" marR="0" rtl="0" algn="l">
                        <a:spcBef>
                          <a:spcPts val="0"/>
                        </a:spcBef>
                        <a:spcAft>
                          <a:spcPts val="0"/>
                        </a:spcAft>
                        <a:buClr>
                          <a:srgbClr val="EFE8D8"/>
                        </a:buClr>
                        <a:buSzPts val="1200"/>
                        <a:buFont typeface="Noto Sans"/>
                        <a:buNone/>
                      </a:pPr>
                      <a:r>
                        <a:rPr lang="en-US" sz="1200" u="none" cap="none" strike="noStrike">
                          <a:solidFill>
                            <a:srgbClr val="EFE8D8"/>
                          </a:solidFill>
                          <a:latin typeface="Noto Sans"/>
                          <a:ea typeface="Noto Sans"/>
                          <a:cs typeface="Noto Sans"/>
                          <a:sym typeface="Noto Sans"/>
                        </a:rPr>
                        <a:t>STT</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1B1916"/>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FE8D8"/>
                        </a:buClr>
                        <a:buSzPts val="1200"/>
                        <a:buFont typeface="Noto Sans"/>
                        <a:buNone/>
                      </a:pPr>
                      <a:r>
                        <a:rPr lang="en-US" sz="1200" u="none" cap="none" strike="noStrike">
                          <a:solidFill>
                            <a:srgbClr val="EFE8D8"/>
                          </a:solidFill>
                          <a:latin typeface="Noto Sans"/>
                          <a:ea typeface="Noto Sans"/>
                          <a:cs typeface="Noto Sans"/>
                          <a:sym typeface="Noto Sans"/>
                        </a:rPr>
                        <a:t>Phân hệ Chức năng (Module)</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1B1916"/>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FE8D8"/>
                        </a:buClr>
                        <a:buSzPts val="1200"/>
                        <a:buFont typeface="Noto Sans"/>
                        <a:buNone/>
                      </a:pPr>
                      <a:r>
                        <a:rPr lang="en-US" sz="1200" u="none" cap="none" strike="noStrike">
                          <a:solidFill>
                            <a:srgbClr val="EFE8D8"/>
                          </a:solidFill>
                          <a:latin typeface="Noto Sans"/>
                          <a:ea typeface="Noto Sans"/>
                          <a:cs typeface="Noto Sans"/>
                          <a:sym typeface="Noto Sans"/>
                        </a:rPr>
                        <a:t>Tổng TC</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1B1916"/>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FE8D8"/>
                        </a:buClr>
                        <a:buSzPts val="1200"/>
                        <a:buFont typeface="Noto Sans"/>
                        <a:buNone/>
                      </a:pPr>
                      <a:r>
                        <a:rPr lang="en-US" sz="1200" u="none" cap="none" strike="noStrike">
                          <a:solidFill>
                            <a:srgbClr val="EFE8D8"/>
                          </a:solidFill>
                          <a:latin typeface="Noto Sans"/>
                          <a:ea typeface="Noto Sans"/>
                          <a:cs typeface="Noto Sans"/>
                          <a:sym typeface="Noto Sans"/>
                        </a:rPr>
                        <a:t>PASS</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1B1916"/>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FE8D8"/>
                        </a:buClr>
                        <a:buSzPts val="1200"/>
                        <a:buFont typeface="Noto Sans"/>
                        <a:buNone/>
                      </a:pPr>
                      <a:r>
                        <a:rPr lang="en-US" sz="1200" u="none" cap="none" strike="noStrike">
                          <a:solidFill>
                            <a:srgbClr val="EFE8D8"/>
                          </a:solidFill>
                          <a:latin typeface="Noto Sans"/>
                          <a:ea typeface="Noto Sans"/>
                          <a:cs typeface="Noto Sans"/>
                          <a:sym typeface="Noto Sans"/>
                        </a:rPr>
                        <a:t>FAIL</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1B1916"/>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FE8D8"/>
                        </a:buClr>
                        <a:buSzPts val="1200"/>
                        <a:buFont typeface="Noto Sans"/>
                        <a:buNone/>
                      </a:pPr>
                      <a:r>
                        <a:rPr lang="en-US" sz="1200" u="none" cap="none" strike="noStrike">
                          <a:solidFill>
                            <a:srgbClr val="EFE8D8"/>
                          </a:solidFill>
                          <a:latin typeface="Noto Sans"/>
                          <a:ea typeface="Noto Sans"/>
                          <a:cs typeface="Noto Sans"/>
                          <a:sym typeface="Noto Sans"/>
                        </a:rPr>
                        <a:t>Tỷ lệ PASS</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1B1916"/>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FE8D8"/>
                        </a:buClr>
                        <a:buSzPts val="1200"/>
                        <a:buFont typeface="Noto Sans"/>
                        <a:buNone/>
                      </a:pPr>
                      <a:r>
                        <a:rPr lang="en-US" sz="1200" u="none" cap="none" strike="noStrike">
                          <a:solidFill>
                            <a:srgbClr val="EFE8D8"/>
                          </a:solidFill>
                          <a:latin typeface="Noto Sans"/>
                          <a:ea typeface="Noto Sans"/>
                          <a:cs typeface="Noto Sans"/>
                          <a:sym typeface="Noto Sans"/>
                        </a:rPr>
                        <a:t>Tester Đảm nhiệm</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1B1916"/>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1</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Xác thực &amp; Người dùng (Auth &amp; User)</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23</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23</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100.0%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Tạ Thu Hương Linh</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2</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Đăng ký đặt cọc (Deposit Registration)</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7</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7</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100.0%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Đoàn Hoàng Vũ</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3</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Đơn hàng &amp; Chat (Order &amp; Chat)</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10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10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100.0%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Đoàn Hoàng Vũ</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4</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Đặt giá (Bidding Engine &amp; Rules)</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14</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13</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85A3C"/>
                        </a:buClr>
                        <a:buSzPts val="1200"/>
                        <a:buFont typeface="Noto Sans"/>
                        <a:buNone/>
                      </a:pPr>
                      <a:r>
                        <a:rPr b="1" lang="en-US" sz="1200" u="none" cap="none" strike="noStrike">
                          <a:solidFill>
                            <a:srgbClr val="E85A3C"/>
                          </a:solidFill>
                          <a:latin typeface="Noto Sans"/>
                          <a:ea typeface="Noto Sans"/>
                          <a:cs typeface="Noto Sans"/>
                          <a:sym typeface="Noto Sans"/>
                        </a:rPr>
                        <a:t>1</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92.9%</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Phạm Văn Tiến Dũng</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5</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Ví tiền &amp; Thanh toán (Wallet)</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12</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11</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85A3C"/>
                        </a:buClr>
                        <a:buSzPts val="1200"/>
                        <a:buFont typeface="Noto Sans"/>
                        <a:buNone/>
                      </a:pPr>
                      <a:r>
                        <a:rPr b="1" lang="en-US" sz="1200" u="none" cap="none" strike="noStrike">
                          <a:solidFill>
                            <a:srgbClr val="E85A3C"/>
                          </a:solidFill>
                          <a:latin typeface="Noto Sans"/>
                          <a:ea typeface="Noto Sans"/>
                          <a:cs typeface="Noto Sans"/>
                          <a:sym typeface="Noto Sans"/>
                        </a:rPr>
                        <a:t>1</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91.7%</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Phạm Văn Tiến Dũng</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6</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Thông báo thời gian thực (Realtime)</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8</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7</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85A3C"/>
                        </a:buClr>
                        <a:buSzPts val="1200"/>
                        <a:buFont typeface="Noto Sans"/>
                        <a:buNone/>
                      </a:pPr>
                      <a:r>
                        <a:rPr b="1" lang="en-US" sz="1200" u="none" cap="none" strike="noStrike">
                          <a:solidFill>
                            <a:srgbClr val="E85A3C"/>
                          </a:solidFill>
                          <a:latin typeface="Noto Sans"/>
                          <a:ea typeface="Noto Sans"/>
                          <a:cs typeface="Noto Sans"/>
                          <a:sym typeface="Noto Sans"/>
                        </a:rPr>
                        <a:t>1</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87.5%</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Đoàn Hoàng Vũ</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7</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Quản lý phiên đấu giá (Auction)</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21</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15</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85A3C"/>
                        </a:buClr>
                        <a:buSzPts val="1200"/>
                        <a:buFont typeface="Noto Sans"/>
                        <a:buNone/>
                      </a:pPr>
                      <a:r>
                        <a:rPr b="1" lang="en-US" sz="1200" u="none" cap="none" strike="noStrike">
                          <a:solidFill>
                            <a:srgbClr val="E85A3C"/>
                          </a:solidFill>
                          <a:latin typeface="Noto Sans"/>
                          <a:ea typeface="Noto Sans"/>
                          <a:cs typeface="Noto Sans"/>
                          <a:sym typeface="Noto Sans"/>
                        </a:rPr>
                        <a:t>6</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FE8D8"/>
                        </a:buClr>
                        <a:buSzPts val="1200"/>
                        <a:buFont typeface="Noto Sans"/>
                        <a:buNone/>
                      </a:pPr>
                      <a:r>
                        <a:rPr b="1" lang="en-US" sz="1200" u="none" cap="none" strike="noStrike">
                          <a:solidFill>
                            <a:srgbClr val="EFE8D8"/>
                          </a:solidFill>
                          <a:latin typeface="Noto Sans"/>
                          <a:ea typeface="Noto Sans"/>
                          <a:cs typeface="Noto Sans"/>
                          <a:sym typeface="Noto Sans"/>
                        </a:rPr>
                        <a:t>71.4%</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Đoàn Văn Khánh</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80025">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8</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Quản trị hệ thống (Admin System)</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6</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3</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85A3C"/>
                        </a:buClr>
                        <a:buSzPts val="1200"/>
                        <a:buFont typeface="Noto Sans"/>
                        <a:buNone/>
                      </a:pPr>
                      <a:r>
                        <a:rPr b="1" lang="en-US" sz="1200" u="none" cap="none" strike="noStrike">
                          <a:solidFill>
                            <a:srgbClr val="E85A3C"/>
                          </a:solidFill>
                          <a:latin typeface="Noto Sans"/>
                          <a:ea typeface="Noto Sans"/>
                          <a:cs typeface="Noto Sans"/>
                          <a:sym typeface="Noto Sans"/>
                        </a:rPr>
                        <a:t>3</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E85A3C"/>
                        </a:buClr>
                        <a:buSzPts val="1200"/>
                        <a:buFont typeface="Noto Sans"/>
                        <a:buNone/>
                      </a:pPr>
                      <a:r>
                        <a:rPr b="1" lang="en-US" sz="1200" u="none" cap="none" strike="noStrike">
                          <a:solidFill>
                            <a:srgbClr val="E85A3C"/>
                          </a:solidFill>
                          <a:latin typeface="Noto Sans"/>
                          <a:ea typeface="Noto Sans"/>
                          <a:cs typeface="Noto Sans"/>
                          <a:sym typeface="Noto Sans"/>
                        </a:rPr>
                        <a:t>50.0%</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c>
                  <a:txBody>
                    <a:bodyPr/>
                    <a:lstStyle/>
                    <a:p>
                      <a:pPr indent="0" lvl="0" marL="0" marR="0" rtl="0" algn="l">
                        <a:spcBef>
                          <a:spcPts val="0"/>
                        </a:spcBef>
                        <a:spcAft>
                          <a:spcPts val="0"/>
                        </a:spcAft>
                        <a:buClr>
                          <a:srgbClr val="D9D3C6"/>
                        </a:buClr>
                        <a:buSzPts val="1200"/>
                        <a:buFont typeface="Noto Sans"/>
                        <a:buNone/>
                      </a:pPr>
                      <a:r>
                        <a:rPr lang="en-US" sz="1200" u="none" cap="none" strike="noStrike">
                          <a:solidFill>
                            <a:srgbClr val="D9D3C6"/>
                          </a:solidFill>
                          <a:latin typeface="Noto Sans"/>
                          <a:ea typeface="Noto Sans"/>
                          <a:cs typeface="Noto Sans"/>
                          <a:sym typeface="Noto Sans"/>
                        </a:rPr>
                        <a:t>Đoàn Văn Khánh</a:t>
                      </a:r>
                      <a:endParaRPr sz="1200" u="none" cap="none" strike="noStrike">
                        <a:latin typeface="Noto Sans"/>
                        <a:ea typeface="Noto Sans"/>
                        <a:cs typeface="Noto Sans"/>
                        <a:sym typeface="Noto Sans"/>
                      </a:endParaRPr>
                    </a:p>
                  </a:txBody>
                  <a:tcPr marT="28575" marB="28575" marR="47625" marL="47625" anchor="ctr">
                    <a:lnL cap="flat" cmpd="sng" w="12700">
                      <a:solidFill>
                        <a:srgbClr val="1B1916"/>
                      </a:solidFill>
                      <a:prstDash val="solid"/>
                      <a:round/>
                      <a:headEnd len="sm" w="sm" type="none"/>
                      <a:tailEnd len="sm" w="sm" type="none"/>
                    </a:lnL>
                    <a:lnR cap="flat" cmpd="sng" w="12700">
                      <a:solidFill>
                        <a:srgbClr val="1B1916"/>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6A655C"/>
                      </a:solidFill>
                      <a:prstDash val="solid"/>
                      <a:round/>
                      <a:headEnd len="sm" w="sm" type="none"/>
                      <a:tailEnd len="sm" w="sm" type="none"/>
                    </a:lnB>
                  </a:tcPr>
                </a:tc>
              </a:tr>
              <a:tr h="270500">
                <a:tc gridSpan="2">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TOÀN BỘ HỆ THỐNG</a:t>
                      </a:r>
                      <a:endParaRPr sz="1200" u="none" cap="none" strike="noStrike">
                        <a:latin typeface="Noto Sans"/>
                        <a:ea typeface="Noto Sans"/>
                        <a:cs typeface="Noto Sans"/>
                        <a:sym typeface="Noto Sans"/>
                      </a:endParaRPr>
                    </a:p>
                  </a:txBody>
                  <a:tcPr marT="28575" marB="28575" marR="47625" marL="47625"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c hMerge="1"/>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101</a:t>
                      </a:r>
                      <a:endParaRPr sz="1200" u="none" cap="none" strike="noStrike">
                        <a:latin typeface="Noto Sans"/>
                        <a:ea typeface="Noto Sans"/>
                        <a:cs typeface="Noto Sans"/>
                        <a:sym typeface="Noto Sans"/>
                      </a:endParaRPr>
                    </a:p>
                  </a:txBody>
                  <a:tcPr marT="28575" marB="28575" marR="47625" marL="47625"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c>
                  <a:txBody>
                    <a:bodyPr/>
                    <a:lstStyle/>
                    <a:p>
                      <a:pPr indent="0" lvl="0" marL="0" marR="0" rtl="0" algn="l">
                        <a:spcBef>
                          <a:spcPts val="0"/>
                        </a:spcBef>
                        <a:spcAft>
                          <a:spcPts val="0"/>
                        </a:spcAft>
                        <a:buClr>
                          <a:srgbClr val="E3A72F"/>
                        </a:buClr>
                        <a:buSzPts val="1200"/>
                        <a:buFont typeface="Noto Sans"/>
                        <a:buNone/>
                      </a:pPr>
                      <a:r>
                        <a:rPr b="1" lang="en-US" sz="1200" u="none" cap="none" strike="noStrike">
                          <a:solidFill>
                            <a:srgbClr val="E3A72F"/>
                          </a:solidFill>
                          <a:latin typeface="Noto Sans"/>
                          <a:ea typeface="Noto Sans"/>
                          <a:cs typeface="Noto Sans"/>
                          <a:sym typeface="Noto Sans"/>
                        </a:rPr>
                        <a:t>89</a:t>
                      </a:r>
                      <a:endParaRPr sz="1200" u="none" cap="none" strike="noStrike">
                        <a:latin typeface="Noto Sans"/>
                        <a:ea typeface="Noto Sans"/>
                        <a:cs typeface="Noto Sans"/>
                        <a:sym typeface="Noto Sans"/>
                      </a:endParaRPr>
                    </a:p>
                  </a:txBody>
                  <a:tcPr marT="28575" marB="28575" marR="47625" marL="47625"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12</a:t>
                      </a:r>
                      <a:endParaRPr sz="1200" u="none" cap="none" strike="noStrike">
                        <a:latin typeface="Noto Sans"/>
                        <a:ea typeface="Noto Sans"/>
                        <a:cs typeface="Noto Sans"/>
                        <a:sym typeface="Noto Sans"/>
                      </a:endParaRPr>
                    </a:p>
                  </a:txBody>
                  <a:tcPr marT="28575" marB="28575" marR="47625" marL="47625"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c>
                  <a:txBody>
                    <a:bodyPr/>
                    <a:lstStyle/>
                    <a:p>
                      <a:pPr indent="0" lvl="0" marL="0" marR="0" rtl="0" algn="l">
                        <a:spcBef>
                          <a:spcPts val="0"/>
                        </a:spcBef>
                        <a:spcAft>
                          <a:spcPts val="0"/>
                        </a:spcAft>
                        <a:buClr>
                          <a:srgbClr val="EFE8D8"/>
                        </a:buClr>
                        <a:buSzPts val="1200"/>
                        <a:buFont typeface="Noto Sans"/>
                        <a:buNone/>
                      </a:pPr>
                      <a:r>
                        <a:rPr b="1" lang="en-US" sz="1200" u="none" cap="none" strike="noStrike">
                          <a:solidFill>
                            <a:srgbClr val="EFE8D8"/>
                          </a:solidFill>
                          <a:latin typeface="Noto Sans"/>
                          <a:ea typeface="Noto Sans"/>
                          <a:cs typeface="Noto Sans"/>
                          <a:sym typeface="Noto Sans"/>
                        </a:rPr>
                        <a:t>88.1%</a:t>
                      </a:r>
                      <a:endParaRPr sz="1200" u="none" cap="none" strike="noStrike">
                        <a:latin typeface="Noto Sans"/>
                        <a:ea typeface="Noto Sans"/>
                        <a:cs typeface="Noto Sans"/>
                        <a:sym typeface="Noto Sans"/>
                      </a:endParaRPr>
                    </a:p>
                  </a:txBody>
                  <a:tcPr marT="28575" marB="28575" marR="47625" marL="47625"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c>
                  <a:txBody>
                    <a:bodyPr/>
                    <a:lstStyle/>
                    <a:p>
                      <a:pPr indent="0" lvl="0" marL="0" marR="0" rtl="0" algn="l">
                        <a:spcBef>
                          <a:spcPts val="0"/>
                        </a:spcBef>
                        <a:spcAft>
                          <a:spcPts val="0"/>
                        </a:spcAft>
                        <a:buClr>
                          <a:srgbClr val="D9D3C6"/>
                        </a:buClr>
                        <a:buSzPts val="1200"/>
                        <a:buFont typeface="Noto Sans"/>
                        <a:buNone/>
                      </a:pPr>
                      <a:r>
                        <a:rPr b="1" lang="en-US" sz="1200" u="none" cap="none" strike="noStrike">
                          <a:solidFill>
                            <a:srgbClr val="D9D3C6"/>
                          </a:solidFill>
                          <a:latin typeface="Noto Sans"/>
                          <a:ea typeface="Noto Sans"/>
                          <a:cs typeface="Noto Sans"/>
                          <a:sym typeface="Noto Sans"/>
                        </a:rPr>
                        <a:t>Cả nhóm (4 TV)</a:t>
                      </a:r>
                      <a:endParaRPr sz="1200" u="none" cap="none" strike="noStrike">
                        <a:latin typeface="Noto Sans"/>
                        <a:ea typeface="Noto Sans"/>
                        <a:cs typeface="Noto Sans"/>
                        <a:sym typeface="Noto Sans"/>
                      </a:endParaRPr>
                    </a:p>
                  </a:txBody>
                  <a:tcPr marT="28575" marB="28575" marR="47625" marL="47625"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6A655C"/>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r>
            </a:tbl>
          </a:graphicData>
        </a:graphic>
      </p:graphicFrame>
      <p:sp>
        <p:nvSpPr>
          <p:cNvPr id="109" name="Google Shape;109;p15"/>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p:nvPr/>
        </p:nvSpPr>
        <p:spPr>
          <a:xfrm>
            <a:off x="419100" y="419100"/>
            <a:ext cx="87249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Noto Sans SemiBold"/>
              <a:buNone/>
            </a:pPr>
            <a:r>
              <a:rPr b="0" i="0" lang="en-US" sz="900" u="none" cap="none" strike="noStrike">
                <a:solidFill>
                  <a:srgbClr val="A39C8E"/>
                </a:solidFill>
                <a:latin typeface="Noto Sans SemiBold"/>
                <a:ea typeface="Noto Sans SemiBold"/>
                <a:cs typeface="Noto Sans SemiBold"/>
                <a:sym typeface="Noto Sans SemiBold"/>
              </a:rPr>
              <a:t>PHẦN II: PHÂN TÍCH DEFECT LOG PHÁT HIỆN QUA TEST TAY</a:t>
            </a:r>
            <a:endParaRPr b="0" i="0" sz="900" u="none" cap="none" strike="noStrike">
              <a:solidFill>
                <a:schemeClr val="dk1"/>
              </a:solidFill>
              <a:latin typeface="Calibri"/>
              <a:ea typeface="Calibri"/>
              <a:cs typeface="Calibri"/>
              <a:sym typeface="Calibri"/>
            </a:endParaRPr>
          </a:p>
        </p:txBody>
      </p:sp>
      <p:sp>
        <p:nvSpPr>
          <p:cNvPr id="116" name="Google Shape;116;p16"/>
          <p:cNvSpPr/>
          <p:nvPr/>
        </p:nvSpPr>
        <p:spPr>
          <a:xfrm>
            <a:off x="419100" y="618158"/>
            <a:ext cx="8305800" cy="24765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1" i="0" lang="en-US" sz="1600" u="none" cap="none" strike="noStrike">
                <a:solidFill>
                  <a:srgbClr val="D9D3C6"/>
                </a:solidFill>
                <a:latin typeface="Noto Sans"/>
                <a:ea typeface="Noto Sans"/>
                <a:cs typeface="Noto Sans"/>
                <a:sym typeface="Noto Sans"/>
              </a:rPr>
              <a:t>PHÂN TÍCH 4 LỖI AN NINH VÀ TÀI CHÍNH NGHIÊM TRỌNG NHẤT</a:t>
            </a:r>
            <a:endParaRPr b="1" i="0" sz="1600" u="none" cap="none" strike="noStrike">
              <a:solidFill>
                <a:schemeClr val="dk1"/>
              </a:solidFill>
              <a:latin typeface="Calibri"/>
              <a:ea typeface="Calibri"/>
              <a:cs typeface="Calibri"/>
              <a:sym typeface="Calibri"/>
            </a:endParaRPr>
          </a:p>
        </p:txBody>
      </p:sp>
      <p:sp>
        <p:nvSpPr>
          <p:cNvPr id="117" name="Google Shape;117;p16"/>
          <p:cNvSpPr/>
          <p:nvPr/>
        </p:nvSpPr>
        <p:spPr>
          <a:xfrm>
            <a:off x="419025" y="1113895"/>
            <a:ext cx="4095900" cy="247800"/>
          </a:xfrm>
          <a:prstGeom prst="rect">
            <a:avLst/>
          </a:prstGeom>
          <a:noFill/>
          <a:ln cap="flat" cmpd="sng" w="95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1" i="0" lang="en-US" sz="1500" u="none" cap="none" strike="noStrike">
                <a:solidFill>
                  <a:srgbClr val="D9D3C6"/>
                </a:solidFill>
                <a:latin typeface="Noto Sans"/>
                <a:ea typeface="Noto Sans"/>
                <a:cs typeface="Noto Sans"/>
                <a:sym typeface="Noto Sans"/>
              </a:rPr>
              <a:t>CRITICAL</a:t>
            </a:r>
            <a:r>
              <a:rPr b="0" i="0" lang="en-US" sz="1500" u="none" cap="none" strike="noStrike">
                <a:solidFill>
                  <a:srgbClr val="D9D3C6"/>
                </a:solidFill>
                <a:latin typeface="Noto Sans"/>
                <a:ea typeface="Noto Sans"/>
                <a:cs typeface="Noto Sans"/>
                <a:sym typeface="Noto Sans"/>
              </a:rPr>
              <a:t> Bug_K12: Treo tiền cọc người thua</a:t>
            </a:r>
            <a:endParaRPr b="0" i="0" sz="1500" u="none" cap="none" strike="noStrike">
              <a:solidFill>
                <a:schemeClr val="dk1"/>
              </a:solidFill>
              <a:latin typeface="Calibri"/>
              <a:ea typeface="Calibri"/>
              <a:cs typeface="Calibri"/>
              <a:sym typeface="Calibri"/>
            </a:endParaRPr>
          </a:p>
        </p:txBody>
      </p:sp>
      <p:sp>
        <p:nvSpPr>
          <p:cNvPr id="118" name="Google Shape;118;p16"/>
          <p:cNvSpPr/>
          <p:nvPr/>
        </p:nvSpPr>
        <p:spPr>
          <a:xfrm>
            <a:off x="419025" y="1471083"/>
            <a:ext cx="4095900" cy="12801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Mô tả:</a:t>
            </a:r>
            <a:r>
              <a:rPr b="0" i="0" lang="en-US" sz="1200" u="none" cap="none" strike="noStrike">
                <a:solidFill>
                  <a:srgbClr val="D9D3C6"/>
                </a:solidFill>
                <a:latin typeface="Noto Sans"/>
                <a:ea typeface="Noto Sans"/>
                <a:cs typeface="Noto Sans"/>
                <a:sym typeface="Noto Sans"/>
              </a:rPr>
              <a:t> Khi phiên kết thúc, chỉ duy nhất người thắng được tạo đơn hàng, các biddder thua cuộc bị treo vĩnh viễn 10% tiền cọc đóng băng mà không được tự động hoàn trả về ví.</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Khắc phục:</a:t>
            </a:r>
            <a:r>
              <a:rPr b="0" i="0" lang="en-US" sz="1200" u="none" cap="none" strike="noStrike">
                <a:solidFill>
                  <a:srgbClr val="D9D3C6"/>
                </a:solidFill>
                <a:latin typeface="Noto Sans"/>
                <a:ea typeface="Noto Sans"/>
                <a:cs typeface="Noto Sans"/>
                <a:sym typeface="Noto Sans"/>
              </a:rPr>
              <a:t> Thêm Cronjob/Event Trigger tự động nhả frozen balance về ví ngay khi phiên Ended.</a:t>
            </a:r>
            <a:endParaRPr b="0" i="0" sz="1200" u="none" cap="none" strike="noStrike">
              <a:solidFill>
                <a:schemeClr val="dk1"/>
              </a:solidFill>
              <a:latin typeface="Calibri"/>
              <a:ea typeface="Calibri"/>
              <a:cs typeface="Calibri"/>
              <a:sym typeface="Calibri"/>
            </a:endParaRPr>
          </a:p>
        </p:txBody>
      </p:sp>
      <p:sp>
        <p:nvSpPr>
          <p:cNvPr id="119" name="Google Shape;119;p16"/>
          <p:cNvSpPr/>
          <p:nvPr/>
        </p:nvSpPr>
        <p:spPr>
          <a:xfrm>
            <a:off x="4629075" y="1113895"/>
            <a:ext cx="4095900" cy="247800"/>
          </a:xfrm>
          <a:prstGeom prst="rect">
            <a:avLst/>
          </a:prstGeom>
          <a:noFill/>
          <a:ln cap="flat" cmpd="sng" w="95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1" i="0" lang="en-US" sz="1500" u="none" cap="none" strike="noStrike">
                <a:solidFill>
                  <a:srgbClr val="D9D3C6"/>
                </a:solidFill>
                <a:latin typeface="Noto Sans"/>
                <a:ea typeface="Noto Sans"/>
                <a:cs typeface="Noto Sans"/>
                <a:sym typeface="Noto Sans"/>
              </a:rPr>
              <a:t>CRITICAL</a:t>
            </a:r>
            <a:r>
              <a:rPr b="0" i="0" lang="en-US" sz="1500" u="none" cap="none" strike="noStrike">
                <a:solidFill>
                  <a:srgbClr val="D9D3C6"/>
                </a:solidFill>
                <a:latin typeface="Noto Sans"/>
                <a:ea typeface="Noto Sans"/>
                <a:cs typeface="Noto Sans"/>
                <a:sym typeface="Noto Sans"/>
              </a:rPr>
              <a:t> Bug_K07: Seller sửa phiên Active</a:t>
            </a:r>
            <a:endParaRPr b="0" i="0" sz="1500" u="none" cap="none" strike="noStrike">
              <a:solidFill>
                <a:schemeClr val="dk1"/>
              </a:solidFill>
              <a:latin typeface="Calibri"/>
              <a:ea typeface="Calibri"/>
              <a:cs typeface="Calibri"/>
              <a:sym typeface="Calibri"/>
            </a:endParaRPr>
          </a:p>
        </p:txBody>
      </p:sp>
      <p:sp>
        <p:nvSpPr>
          <p:cNvPr id="120" name="Google Shape;120;p16"/>
          <p:cNvSpPr/>
          <p:nvPr/>
        </p:nvSpPr>
        <p:spPr>
          <a:xfrm>
            <a:off x="4629075" y="1471083"/>
            <a:ext cx="4095900" cy="1066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Mô tả:</a:t>
            </a:r>
            <a:r>
              <a:rPr b="0" i="0" lang="en-US" sz="1200" u="none" cap="none" strike="noStrike">
                <a:solidFill>
                  <a:srgbClr val="D9D3C6"/>
                </a:solidFill>
                <a:latin typeface="Noto Sans"/>
                <a:ea typeface="Noto Sans"/>
                <a:cs typeface="Noto Sans"/>
                <a:sym typeface="Noto Sans"/>
              </a:rPr>
              <a:t> Seller gửi API sửa khi phiên đang chạy (`active`), làm hỗn loạn toàn bộ tính toán bước giá.</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PUT /api/auctions/:id</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startPrice</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Khắc phục:</a:t>
            </a:r>
            <a:r>
              <a:rPr b="0" i="0" lang="en-US" sz="1200" u="none" cap="none" strike="noStrike">
                <a:solidFill>
                  <a:srgbClr val="D9D3C6"/>
                </a:solidFill>
                <a:latin typeface="Noto Sans"/>
                <a:ea typeface="Noto Sans"/>
                <a:cs typeface="Noto Sans"/>
                <a:sym typeface="Noto Sans"/>
              </a:rPr>
              <a:t> Khóa tính năng Edit nếu . </a:t>
            </a:r>
            <a:r>
              <a:rPr b="0" i="0" lang="en-US" sz="1200" u="none" cap="none" strike="noStrike">
                <a:solidFill>
                  <a:srgbClr val="D9D3C6"/>
                </a:solidFill>
                <a:highlight>
                  <a:srgbClr val="2A2621"/>
                </a:highlight>
                <a:latin typeface="Consolas"/>
                <a:ea typeface="Consolas"/>
                <a:cs typeface="Consolas"/>
                <a:sym typeface="Consolas"/>
              </a:rPr>
              <a:t>status !== 'draft'</a:t>
            </a:r>
            <a:endParaRPr b="0" i="0" sz="1200" u="none" cap="none" strike="noStrike">
              <a:solidFill>
                <a:schemeClr val="dk1"/>
              </a:solidFill>
              <a:latin typeface="Calibri"/>
              <a:ea typeface="Calibri"/>
              <a:cs typeface="Calibri"/>
              <a:sym typeface="Calibri"/>
            </a:endParaRPr>
          </a:p>
        </p:txBody>
      </p:sp>
      <p:sp>
        <p:nvSpPr>
          <p:cNvPr id="121" name="Google Shape;121;p16"/>
          <p:cNvSpPr/>
          <p:nvPr/>
        </p:nvSpPr>
        <p:spPr>
          <a:xfrm>
            <a:off x="419025" y="3032366"/>
            <a:ext cx="4095900" cy="247800"/>
          </a:xfrm>
          <a:prstGeom prst="rect">
            <a:avLst/>
          </a:prstGeom>
          <a:noFill/>
          <a:ln cap="flat" cmpd="sng" w="95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1" i="0" lang="en-US" sz="1500" u="none" cap="none" strike="noStrike">
                <a:solidFill>
                  <a:srgbClr val="D9D3C6"/>
                </a:solidFill>
                <a:latin typeface="Noto Sans"/>
                <a:ea typeface="Noto Sans"/>
                <a:cs typeface="Noto Sans"/>
                <a:sym typeface="Noto Sans"/>
              </a:rPr>
              <a:t>MAJOR</a:t>
            </a:r>
            <a:r>
              <a:rPr b="0" i="0" lang="en-US" sz="1500" u="none" cap="none" strike="noStrike">
                <a:solidFill>
                  <a:srgbClr val="D9D3C6"/>
                </a:solidFill>
                <a:latin typeface="Noto Sans"/>
                <a:ea typeface="Noto Sans"/>
                <a:cs typeface="Noto Sans"/>
                <a:sym typeface="Noto Sans"/>
              </a:rPr>
              <a:t> Bug_K01: Đặt giá vào phiên bị Hủy</a:t>
            </a:r>
            <a:endParaRPr b="0" i="0" sz="1500" u="none" cap="none" strike="noStrike">
              <a:solidFill>
                <a:schemeClr val="dk1"/>
              </a:solidFill>
              <a:latin typeface="Calibri"/>
              <a:ea typeface="Calibri"/>
              <a:cs typeface="Calibri"/>
              <a:sym typeface="Calibri"/>
            </a:endParaRPr>
          </a:p>
        </p:txBody>
      </p:sp>
      <p:sp>
        <p:nvSpPr>
          <p:cNvPr id="122" name="Google Shape;122;p16"/>
          <p:cNvSpPr/>
          <p:nvPr/>
        </p:nvSpPr>
        <p:spPr>
          <a:xfrm>
            <a:off x="419025" y="3389554"/>
            <a:ext cx="4095900" cy="12801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Mô tả:</a:t>
            </a:r>
            <a:r>
              <a:rPr b="0" i="0" lang="en-US" sz="1200" u="none" cap="none" strike="noStrike">
                <a:solidFill>
                  <a:srgbClr val="D9D3C6"/>
                </a:solidFill>
                <a:latin typeface="Noto Sans"/>
                <a:ea typeface="Noto Sans"/>
                <a:cs typeface="Noto Sans"/>
                <a:sym typeface="Noto Sans"/>
              </a:rPr>
              <a:t> Admin đã gắn cờ nhưng phía Bidding Engine không kiểm tra cờ này, vẫn cho Bidder đặt giá mới bình thường.</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status: cancelled</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Khắc phục:</a:t>
            </a:r>
            <a:r>
              <a:rPr b="0" i="0" lang="en-US" sz="1200" u="none" cap="none" strike="noStrike">
                <a:solidFill>
                  <a:srgbClr val="D9D3C6"/>
                </a:solidFill>
                <a:latin typeface="Noto Sans"/>
                <a:ea typeface="Noto Sans"/>
                <a:cs typeface="Noto Sans"/>
                <a:sym typeface="Noto Sans"/>
              </a:rPr>
              <a:t> Thêm tiền kiểm trạng thái phiên trước khi ghi nhận Bid.</a:t>
            </a:r>
            <a:endParaRPr b="0" i="0" sz="1200" u="none" cap="none" strike="noStrike">
              <a:solidFill>
                <a:schemeClr val="dk1"/>
              </a:solidFill>
              <a:latin typeface="Calibri"/>
              <a:ea typeface="Calibri"/>
              <a:cs typeface="Calibri"/>
              <a:sym typeface="Calibri"/>
            </a:endParaRPr>
          </a:p>
        </p:txBody>
      </p:sp>
      <p:sp>
        <p:nvSpPr>
          <p:cNvPr id="123" name="Google Shape;123;p16"/>
          <p:cNvSpPr/>
          <p:nvPr/>
        </p:nvSpPr>
        <p:spPr>
          <a:xfrm>
            <a:off x="4629075" y="3032366"/>
            <a:ext cx="4095900" cy="495300"/>
          </a:xfrm>
          <a:prstGeom prst="rect">
            <a:avLst/>
          </a:prstGeom>
          <a:noFill/>
          <a:ln cap="flat" cmpd="sng" w="9525">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1" i="0" lang="en-US" sz="1500" u="none" cap="none" strike="noStrike">
                <a:solidFill>
                  <a:srgbClr val="D9D3C6"/>
                </a:solidFill>
                <a:latin typeface="Noto Sans"/>
                <a:ea typeface="Noto Sans"/>
                <a:cs typeface="Noto Sans"/>
                <a:sym typeface="Noto Sans"/>
              </a:rPr>
              <a:t>MAJOR</a:t>
            </a:r>
            <a:r>
              <a:rPr b="0" i="0" lang="en-US" sz="1500" u="none" cap="none" strike="noStrike">
                <a:solidFill>
                  <a:srgbClr val="D9D3C6"/>
                </a:solidFill>
                <a:latin typeface="Noto Sans"/>
                <a:ea typeface="Noto Sans"/>
                <a:cs typeface="Noto Sans"/>
                <a:sym typeface="Noto Sans"/>
              </a:rPr>
              <a:t> Bug_K09: Khóa User nhưng JWT cũ sống</a:t>
            </a:r>
            <a:endParaRPr b="0" i="0" sz="1500" u="none" cap="none" strike="noStrike">
              <a:solidFill>
                <a:schemeClr val="dk1"/>
              </a:solidFill>
              <a:latin typeface="Calibri"/>
              <a:ea typeface="Calibri"/>
              <a:cs typeface="Calibri"/>
              <a:sym typeface="Calibri"/>
            </a:endParaRPr>
          </a:p>
        </p:txBody>
      </p:sp>
      <p:sp>
        <p:nvSpPr>
          <p:cNvPr id="124" name="Google Shape;124;p16"/>
          <p:cNvSpPr/>
          <p:nvPr/>
        </p:nvSpPr>
        <p:spPr>
          <a:xfrm>
            <a:off x="4629075" y="3637204"/>
            <a:ext cx="4095900" cy="1066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Mô tả:</a:t>
            </a:r>
            <a:r>
              <a:rPr b="0" i="0" lang="en-US" sz="1200" u="none" cap="none" strike="noStrike">
                <a:solidFill>
                  <a:srgbClr val="D9D3C6"/>
                </a:solidFill>
                <a:latin typeface="Noto Sans"/>
                <a:ea typeface="Noto Sans"/>
                <a:cs typeface="Noto Sans"/>
                <a:sym typeface="Noto Sans"/>
              </a:rPr>
              <a:t> Admin đã khóa tài khoản vi phạm nhưng Token JWT cũ đã cấp trước đó vẫn thực thi gọi API thành công do không kiểm tra lại cờ . </a:t>
            </a:r>
            <a:r>
              <a:rPr b="0" i="0" lang="en-US" sz="1200" u="none" cap="none" strike="noStrike">
                <a:solidFill>
                  <a:srgbClr val="D9D3C6"/>
                </a:solidFill>
                <a:highlight>
                  <a:srgbClr val="2A2621"/>
                </a:highlight>
                <a:latin typeface="Consolas"/>
                <a:ea typeface="Consolas"/>
                <a:cs typeface="Consolas"/>
                <a:sym typeface="Consolas"/>
              </a:rPr>
              <a:t>isBanned</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Noto Sans"/>
              <a:buNone/>
            </a:pPr>
            <a:r>
              <a:rPr b="1" i="0" lang="en-US" sz="1200" u="none" cap="none" strike="noStrike">
                <a:solidFill>
                  <a:srgbClr val="D9D3C6"/>
                </a:solidFill>
                <a:latin typeface="Noto Sans"/>
                <a:ea typeface="Noto Sans"/>
                <a:cs typeface="Noto Sans"/>
                <a:sym typeface="Noto Sans"/>
              </a:rPr>
              <a:t>Khắc phục:</a:t>
            </a:r>
            <a:r>
              <a:rPr b="0" i="0" lang="en-US" sz="1200" u="none" cap="none" strike="noStrike">
                <a:solidFill>
                  <a:srgbClr val="D9D3C6"/>
                </a:solidFill>
                <a:latin typeface="Noto Sans"/>
                <a:ea typeface="Noto Sans"/>
                <a:cs typeface="Noto Sans"/>
                <a:sym typeface="Noto Sans"/>
              </a:rPr>
              <a:t> Tích hợp Redis Token Blacklist &amp; Check status user ở Middleware Authentication.</a:t>
            </a:r>
            <a:endParaRPr b="0" i="0" sz="1200" u="none" cap="none" strike="noStrike">
              <a:solidFill>
                <a:schemeClr val="dk1"/>
              </a:solidFill>
              <a:latin typeface="Calibri"/>
              <a:ea typeface="Calibri"/>
              <a:cs typeface="Calibri"/>
              <a:sym typeface="Calibri"/>
            </a:endParaRPr>
          </a:p>
        </p:txBody>
      </p:sp>
      <p:sp>
        <p:nvSpPr>
          <p:cNvPr id="125" name="Google Shape;125;p16"/>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p:nvPr/>
        </p:nvSpPr>
        <p:spPr>
          <a:xfrm>
            <a:off x="419100" y="190500"/>
            <a:ext cx="87249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Noto Sans SemiBold"/>
              <a:buNone/>
            </a:pPr>
            <a:r>
              <a:rPr b="0" i="0" lang="en-US" sz="900" u="none" cap="none" strike="noStrike">
                <a:solidFill>
                  <a:srgbClr val="A39C8E"/>
                </a:solidFill>
                <a:latin typeface="Noto Sans SemiBold"/>
                <a:ea typeface="Noto Sans SemiBold"/>
                <a:cs typeface="Noto Sans SemiBold"/>
                <a:sym typeface="Noto Sans SemiBold"/>
              </a:rPr>
              <a:t>PHẦN II: PHÂN TÍCH DEFECT LOG (TIẾP THEO)</a:t>
            </a:r>
            <a:endParaRPr b="0" i="0" sz="900" u="none" cap="none" strike="noStrike">
              <a:solidFill>
                <a:schemeClr val="dk1"/>
              </a:solidFill>
              <a:latin typeface="Calibri"/>
              <a:ea typeface="Calibri"/>
              <a:cs typeface="Calibri"/>
              <a:sym typeface="Calibri"/>
            </a:endParaRPr>
          </a:p>
        </p:txBody>
      </p:sp>
      <p:sp>
        <p:nvSpPr>
          <p:cNvPr id="132" name="Google Shape;132;p17"/>
          <p:cNvSpPr/>
          <p:nvPr/>
        </p:nvSpPr>
        <p:spPr>
          <a:xfrm>
            <a:off x="419100" y="439564"/>
            <a:ext cx="8305800" cy="6477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500"/>
              <a:buFont typeface="League Spartan"/>
              <a:buNone/>
            </a:pPr>
            <a:r>
              <a:rPr b="1" i="0" lang="en-US" sz="2500" u="none" cap="none" strike="noStrike">
                <a:solidFill>
                  <a:srgbClr val="EFE8D8"/>
                </a:solidFill>
                <a:latin typeface="League Spartan"/>
                <a:ea typeface="League Spartan"/>
                <a:cs typeface="League Spartan"/>
                <a:sym typeface="League Spartan"/>
              </a:rPr>
              <a:t>PHÂN TÍCH LỖI NGHIỆP VỤ VALIDATION VÀ TRẢI NGHIỆM GIAO DIỆN</a:t>
            </a:r>
            <a:endParaRPr b="0" i="0" sz="2500" u="none" cap="none" strike="noStrike">
              <a:solidFill>
                <a:schemeClr val="dk1"/>
              </a:solidFill>
              <a:latin typeface="Calibri"/>
              <a:ea typeface="Calibri"/>
              <a:cs typeface="Calibri"/>
              <a:sym typeface="Calibri"/>
            </a:endParaRPr>
          </a:p>
        </p:txBody>
      </p:sp>
      <p:sp>
        <p:nvSpPr>
          <p:cNvPr id="133" name="Google Shape;133;p17"/>
          <p:cNvSpPr/>
          <p:nvPr/>
        </p:nvSpPr>
        <p:spPr>
          <a:xfrm>
            <a:off x="419100" y="1189650"/>
            <a:ext cx="2692500" cy="3657000"/>
          </a:xfrm>
          <a:prstGeom prst="roundRect">
            <a:avLst>
              <a:gd fmla="val 849"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a:off x="590550" y="1265858"/>
            <a:ext cx="2272085" cy="237604"/>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681930" y="1311548"/>
            <a:ext cx="2429545" cy="1462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Noto Sans SemiBold"/>
              <a:buNone/>
            </a:pPr>
            <a:r>
              <a:rPr b="0" i="0" lang="en-US" sz="950" u="none" cap="none" strike="noStrike">
                <a:solidFill>
                  <a:srgbClr val="D9D3C6"/>
                </a:solidFill>
                <a:latin typeface="Noto Sans SemiBold"/>
                <a:ea typeface="Noto Sans SemiBold"/>
                <a:cs typeface="Noto Sans SemiBold"/>
                <a:sym typeface="Noto Sans SemiBold"/>
              </a:rPr>
              <a:t>BUG_K02 &amp; BUG_K03 - MEDIUM</a:t>
            </a:r>
            <a:endParaRPr b="0" i="0" sz="950" u="none" cap="none" strike="noStrike">
              <a:solidFill>
                <a:schemeClr val="dk1"/>
              </a:solidFill>
              <a:latin typeface="Calibri"/>
              <a:ea typeface="Calibri"/>
              <a:cs typeface="Calibri"/>
              <a:sym typeface="Calibri"/>
            </a:endParaRPr>
          </a:p>
        </p:txBody>
      </p:sp>
      <p:sp>
        <p:nvSpPr>
          <p:cNvPr id="136" name="Google Shape;136;p17"/>
          <p:cNvSpPr/>
          <p:nvPr/>
        </p:nvSpPr>
        <p:spPr>
          <a:xfrm>
            <a:off x="590550" y="1565374"/>
            <a:ext cx="2349475" cy="495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0" i="0" lang="en-US" sz="1500" u="none" cap="none" strike="noStrike">
                <a:solidFill>
                  <a:srgbClr val="D9D3C6"/>
                </a:solidFill>
                <a:latin typeface="Noto Sans"/>
                <a:ea typeface="Noto Sans"/>
                <a:cs typeface="Noto Sans"/>
                <a:sym typeface="Noto Sans"/>
              </a:rPr>
              <a:t>Thiếu Validation khi Tạo Phiên</a:t>
            </a:r>
            <a:endParaRPr b="0" i="0" sz="1500" u="none" cap="none" strike="noStrike">
              <a:solidFill>
                <a:schemeClr val="dk1"/>
              </a:solidFill>
              <a:latin typeface="Calibri"/>
              <a:ea typeface="Calibri"/>
              <a:cs typeface="Calibri"/>
              <a:sym typeface="Calibri"/>
            </a:endParaRPr>
          </a:p>
        </p:txBody>
      </p:sp>
      <p:sp>
        <p:nvSpPr>
          <p:cNvPr id="137" name="Google Shape;137;p17"/>
          <p:cNvSpPr/>
          <p:nvPr/>
        </p:nvSpPr>
        <p:spPr>
          <a:xfrm>
            <a:off x="590550" y="2170212"/>
            <a:ext cx="2349475" cy="2404914"/>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Bug_K02:</a:t>
            </a:r>
            <a:r>
              <a:rPr b="0" i="0" lang="en-US" sz="1200" u="none" cap="none" strike="noStrike">
                <a:solidFill>
                  <a:srgbClr val="D9D3C6"/>
                </a:solidFill>
                <a:latin typeface="Noto Sans"/>
                <a:ea typeface="Noto Sans"/>
                <a:cs typeface="Noto Sans"/>
                <a:sym typeface="Noto Sans"/>
              </a:rPr>
              <a:t> Backend nhận và tạo thành công phiên đấu giá 0 đồng.</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Bug_K03:</a:t>
            </a:r>
            <a:r>
              <a:rPr b="0" i="0" lang="en-US" sz="1200" u="none" cap="none" strike="noStrike">
                <a:solidFill>
                  <a:srgbClr val="D9D3C6"/>
                </a:solidFill>
                <a:latin typeface="Noto Sans"/>
                <a:ea typeface="Noto Sans"/>
                <a:cs typeface="Noto Sans"/>
                <a:sym typeface="Noto Sans"/>
              </a:rPr>
              <a:t> Chấp nhận cọc nhập số âm hoặc bỏ trống.</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Giải pháp:</a:t>
            </a:r>
            <a:r>
              <a:rPr b="0" i="0" lang="en-US" sz="1200" u="none" cap="none" strike="noStrike">
                <a:solidFill>
                  <a:srgbClr val="D9D3C6"/>
                </a:solidFill>
                <a:latin typeface="Noto Sans"/>
                <a:ea typeface="Noto Sans"/>
                <a:cs typeface="Noto Sans"/>
                <a:sym typeface="Noto Sans"/>
              </a:rPr>
              <a:t> Thêm Joi/Express-Validator bắt buộc và .</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startPrice = 0</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startPrice &gt; 0</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deposit &gt;= 0</a:t>
            </a:r>
            <a:endParaRPr b="0" i="0" sz="1200" u="none" cap="none" strike="noStrike">
              <a:solidFill>
                <a:schemeClr val="dk1"/>
              </a:solidFill>
              <a:latin typeface="Calibri"/>
              <a:ea typeface="Calibri"/>
              <a:cs typeface="Calibri"/>
              <a:sym typeface="Calibri"/>
            </a:endParaRPr>
          </a:p>
        </p:txBody>
      </p:sp>
      <p:sp>
        <p:nvSpPr>
          <p:cNvPr id="138" name="Google Shape;138;p17"/>
          <p:cNvSpPr/>
          <p:nvPr/>
        </p:nvSpPr>
        <p:spPr>
          <a:xfrm>
            <a:off x="3225775" y="1189650"/>
            <a:ext cx="2692500" cy="3657000"/>
          </a:xfrm>
          <a:prstGeom prst="roundRect">
            <a:avLst>
              <a:gd fmla="val 849"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3397225" y="1265858"/>
            <a:ext cx="1997943" cy="237604"/>
          </a:xfrm>
          <a:prstGeom prst="roundRect">
            <a:avLst>
              <a:gd fmla="val 7697" name="adj"/>
            </a:avLst>
          </a:prstGeom>
          <a:noFill/>
          <a:ln cap="flat" cmpd="sng" w="9525">
            <a:solidFill>
              <a:srgbClr val="D9D3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a:off x="3488606" y="1311548"/>
            <a:ext cx="2272382" cy="1462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Noto Sans SemiBold"/>
              <a:buNone/>
            </a:pPr>
            <a:r>
              <a:rPr b="0" i="0" lang="en-US" sz="950" u="none" cap="none" strike="noStrike">
                <a:solidFill>
                  <a:srgbClr val="D9D3C6"/>
                </a:solidFill>
                <a:latin typeface="Noto Sans SemiBold"/>
                <a:ea typeface="Noto Sans SemiBold"/>
                <a:cs typeface="Noto Sans SemiBold"/>
                <a:sym typeface="Noto Sans SemiBold"/>
              </a:rPr>
              <a:t>BUG_K04 &amp; BUG_K05 - LOW</a:t>
            </a:r>
            <a:endParaRPr b="0" i="0" sz="950" u="none" cap="none" strike="noStrike">
              <a:solidFill>
                <a:schemeClr val="dk1"/>
              </a:solidFill>
              <a:latin typeface="Calibri"/>
              <a:ea typeface="Calibri"/>
              <a:cs typeface="Calibri"/>
              <a:sym typeface="Calibri"/>
            </a:endParaRPr>
          </a:p>
        </p:txBody>
      </p:sp>
      <p:sp>
        <p:nvSpPr>
          <p:cNvPr id="141" name="Google Shape;141;p17"/>
          <p:cNvSpPr/>
          <p:nvPr/>
        </p:nvSpPr>
        <p:spPr>
          <a:xfrm>
            <a:off x="3397225" y="1565374"/>
            <a:ext cx="2349475" cy="495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0" i="0" lang="en-US" sz="1500" u="none" cap="none" strike="noStrike">
                <a:solidFill>
                  <a:srgbClr val="D9D3C6"/>
                </a:solidFill>
                <a:latin typeface="Noto Sans"/>
                <a:ea typeface="Noto Sans"/>
                <a:cs typeface="Noto Sans"/>
                <a:sym typeface="Noto Sans"/>
              </a:rPr>
              <a:t>Phản hồi Mã Lỗi HTTP không chuẩn REST</a:t>
            </a:r>
            <a:endParaRPr b="0" i="0" sz="1500" u="none" cap="none" strike="noStrike">
              <a:solidFill>
                <a:schemeClr val="dk1"/>
              </a:solidFill>
              <a:latin typeface="Calibri"/>
              <a:ea typeface="Calibri"/>
              <a:cs typeface="Calibri"/>
              <a:sym typeface="Calibri"/>
            </a:endParaRPr>
          </a:p>
        </p:txBody>
      </p:sp>
      <p:sp>
        <p:nvSpPr>
          <p:cNvPr id="142" name="Google Shape;142;p17"/>
          <p:cNvSpPr/>
          <p:nvPr/>
        </p:nvSpPr>
        <p:spPr>
          <a:xfrm>
            <a:off x="3397225" y="2170212"/>
            <a:ext cx="2349475" cy="2101081"/>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Bug_K04:</a:t>
            </a:r>
            <a:r>
              <a:rPr b="0" i="0" lang="en-US" sz="1200" u="none" cap="none" strike="noStrike">
                <a:solidFill>
                  <a:srgbClr val="D9D3C6"/>
                </a:solidFill>
                <a:latin typeface="Noto Sans"/>
                <a:ea typeface="Noto Sans"/>
                <a:cs typeface="Noto Sans"/>
                <a:sym typeface="Noto Sans"/>
              </a:rPr>
              <a:t> Lỗi Validation dữ liệu bị văng HTTP 500 thay vì HTTP 400 Bad Request.</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Bug_K05:</a:t>
            </a:r>
            <a:r>
              <a:rPr b="0" i="0" lang="en-US" sz="1200" u="none" cap="none" strike="noStrike">
                <a:solidFill>
                  <a:srgbClr val="D9D3C6"/>
                </a:solidFill>
                <a:latin typeface="Noto Sans"/>
                <a:ea typeface="Noto Sans"/>
                <a:cs typeface="Noto Sans"/>
                <a:sym typeface="Noto Sans"/>
              </a:rPr>
              <a:t> Truy vấn ID phiên không tồn tại không trả HTTP 404 Not Found.</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Giải pháp:</a:t>
            </a:r>
            <a:r>
              <a:rPr b="0" i="0" lang="en-US" sz="1200" u="none" cap="none" strike="noStrike">
                <a:solidFill>
                  <a:srgbClr val="D9D3C6"/>
                </a:solidFill>
                <a:latin typeface="Noto Sans"/>
                <a:ea typeface="Noto Sans"/>
                <a:cs typeface="Noto Sans"/>
                <a:sym typeface="Noto Sans"/>
              </a:rPr>
              <a:t> Chuẩn hóa Global Error Handler Middleware trong Express.</a:t>
            </a:r>
            <a:endParaRPr b="0" i="0" sz="1200" u="none" cap="none" strike="noStrike">
              <a:solidFill>
                <a:schemeClr val="dk1"/>
              </a:solidFill>
              <a:latin typeface="Calibri"/>
              <a:ea typeface="Calibri"/>
              <a:cs typeface="Calibri"/>
              <a:sym typeface="Calibri"/>
            </a:endParaRPr>
          </a:p>
        </p:txBody>
      </p:sp>
      <p:sp>
        <p:nvSpPr>
          <p:cNvPr id="143" name="Google Shape;143;p17"/>
          <p:cNvSpPr/>
          <p:nvPr/>
        </p:nvSpPr>
        <p:spPr>
          <a:xfrm>
            <a:off x="6032450" y="1189650"/>
            <a:ext cx="2692500" cy="3657000"/>
          </a:xfrm>
          <a:prstGeom prst="roundRect">
            <a:avLst>
              <a:gd fmla="val 849"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a:off x="6203900" y="1265858"/>
            <a:ext cx="2272085" cy="237604"/>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a:off x="6295281" y="1311548"/>
            <a:ext cx="2429619" cy="1462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Noto Sans SemiBold"/>
              <a:buNone/>
            </a:pPr>
            <a:r>
              <a:rPr b="0" i="0" lang="en-US" sz="950" u="none" cap="none" strike="noStrike">
                <a:solidFill>
                  <a:srgbClr val="D9D3C6"/>
                </a:solidFill>
                <a:latin typeface="Noto Sans SemiBold"/>
                <a:ea typeface="Noto Sans SemiBold"/>
                <a:cs typeface="Noto Sans SemiBold"/>
                <a:sym typeface="Noto Sans SemiBold"/>
              </a:rPr>
              <a:t>BUG_K11 &amp; BUG_K13 - MEDIUM</a:t>
            </a:r>
            <a:endParaRPr b="0" i="0" sz="950" u="none" cap="none" strike="noStrike">
              <a:solidFill>
                <a:schemeClr val="dk1"/>
              </a:solidFill>
              <a:latin typeface="Calibri"/>
              <a:ea typeface="Calibri"/>
              <a:cs typeface="Calibri"/>
              <a:sym typeface="Calibri"/>
            </a:endParaRPr>
          </a:p>
        </p:txBody>
      </p:sp>
      <p:sp>
        <p:nvSpPr>
          <p:cNvPr id="146" name="Google Shape;146;p17"/>
          <p:cNvSpPr/>
          <p:nvPr/>
        </p:nvSpPr>
        <p:spPr>
          <a:xfrm>
            <a:off x="6203900" y="1565374"/>
            <a:ext cx="2349550" cy="495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0" i="0" lang="en-US" sz="1500" u="none" cap="none" strike="noStrike">
                <a:solidFill>
                  <a:srgbClr val="D9D3C6"/>
                </a:solidFill>
                <a:latin typeface="Noto Sans"/>
                <a:ea typeface="Noto Sans"/>
                <a:cs typeface="Noto Sans"/>
                <a:sym typeface="Noto Sans"/>
              </a:rPr>
              <a:t>Lỗi Thống kê &amp; Realtime Socket</a:t>
            </a:r>
            <a:endParaRPr b="0" i="0" sz="1500" u="none" cap="none" strike="noStrike">
              <a:solidFill>
                <a:schemeClr val="dk1"/>
              </a:solidFill>
              <a:latin typeface="Calibri"/>
              <a:ea typeface="Calibri"/>
              <a:cs typeface="Calibri"/>
              <a:sym typeface="Calibri"/>
            </a:endParaRPr>
          </a:p>
        </p:txBody>
      </p:sp>
      <p:sp>
        <p:nvSpPr>
          <p:cNvPr id="147" name="Google Shape;147;p17"/>
          <p:cNvSpPr/>
          <p:nvPr/>
        </p:nvSpPr>
        <p:spPr>
          <a:xfrm>
            <a:off x="6203900" y="2170212"/>
            <a:ext cx="2349550" cy="2101081"/>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Bug_K11:</a:t>
            </a:r>
            <a:r>
              <a:rPr b="0" i="0" lang="en-US" sz="1200" u="none" cap="none" strike="noStrike">
                <a:solidFill>
                  <a:srgbClr val="D9D3C6"/>
                </a:solidFill>
                <a:latin typeface="Noto Sans"/>
                <a:ea typeface="Noto Sans"/>
                <a:cs typeface="Noto Sans"/>
                <a:sym typeface="Noto Sans"/>
              </a:rPr>
              <a:t> Admin Dashboard không hiển thị biểu đồ dòng tiền cọc và doanh thu sàn.</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Bug_K13:</a:t>
            </a:r>
            <a:r>
              <a:rPr b="0" i="0" lang="en-US" sz="1200" u="none" cap="none" strike="noStrike">
                <a:solidFill>
                  <a:srgbClr val="D9D3C6"/>
                </a:solidFill>
                <a:latin typeface="Noto Sans"/>
                <a:ea typeface="Noto Sans"/>
                <a:cs typeface="Noto Sans"/>
                <a:sym typeface="Noto Sans"/>
              </a:rPr>
              <a:t> Bidding thành công nhưng Socket.io không phát thông báo Realtime chốt thắng.</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 </a:t>
            </a:r>
            <a:r>
              <a:rPr b="1" i="0" lang="en-US" sz="1200" u="none" cap="none" strike="noStrike">
                <a:solidFill>
                  <a:srgbClr val="D9D3C6"/>
                </a:solidFill>
                <a:latin typeface="Noto Sans"/>
                <a:ea typeface="Noto Sans"/>
                <a:cs typeface="Noto Sans"/>
                <a:sym typeface="Noto Sans"/>
              </a:rPr>
              <a:t>Giải pháp:</a:t>
            </a:r>
            <a:r>
              <a:rPr b="0" i="0" lang="en-US" sz="1200" u="none" cap="none" strike="noStrike">
                <a:solidFill>
                  <a:srgbClr val="D9D3C6"/>
                </a:solidFill>
                <a:latin typeface="Noto Sans"/>
                <a:ea typeface="Noto Sans"/>
                <a:cs typeface="Noto Sans"/>
                <a:sym typeface="Noto Sans"/>
              </a:rPr>
              <a:t> Sửa query MongoDB Aggregation và kiểm tra Socket Event Emitter.</a:t>
            </a:r>
            <a:endParaRPr b="0" i="0" sz="1200" u="none" cap="none" strike="noStrike">
              <a:solidFill>
                <a:schemeClr val="dk1"/>
              </a:solidFill>
              <a:latin typeface="Calibri"/>
              <a:ea typeface="Calibri"/>
              <a:cs typeface="Calibri"/>
              <a:sym typeface="Calibri"/>
            </a:endParaRPr>
          </a:p>
        </p:txBody>
      </p:sp>
      <p:sp>
        <p:nvSpPr>
          <p:cNvPr id="148" name="Google Shape;148;p17"/>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p:nvPr/>
        </p:nvSpPr>
        <p:spPr>
          <a:xfrm>
            <a:off x="419100" y="419100"/>
            <a:ext cx="8724900" cy="8230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550"/>
              <a:buFont typeface="Noto Sans SemiBold"/>
              <a:buNone/>
            </a:pPr>
            <a:r>
              <a:rPr b="0" i="0" lang="en-US" sz="550" u="none" cap="none" strike="noStrike">
                <a:solidFill>
                  <a:srgbClr val="A39C8E"/>
                </a:solidFill>
                <a:latin typeface="Noto Sans SemiBold"/>
                <a:ea typeface="Noto Sans SemiBold"/>
                <a:cs typeface="Noto Sans SemiBold"/>
                <a:sym typeface="Noto Sans SemiBold"/>
              </a:rPr>
              <a:t>PHẦN III: PHÂN TÍCH CHUYÊN SÂU LỖI KIẾN TRÚC TRANH CHẤP</a:t>
            </a:r>
            <a:endParaRPr b="0" i="0" sz="550" u="none" cap="none" strike="noStrike">
              <a:solidFill>
                <a:schemeClr val="dk1"/>
              </a:solidFill>
              <a:latin typeface="Calibri"/>
              <a:ea typeface="Calibri"/>
              <a:cs typeface="Calibri"/>
              <a:sym typeface="Calibri"/>
            </a:endParaRPr>
          </a:p>
        </p:txBody>
      </p:sp>
      <p:sp>
        <p:nvSpPr>
          <p:cNvPr id="155" name="Google Shape;155;p18"/>
          <p:cNvSpPr/>
          <p:nvPr/>
        </p:nvSpPr>
        <p:spPr>
          <a:xfrm>
            <a:off x="419100" y="546988"/>
            <a:ext cx="8305800" cy="137145"/>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1050"/>
              <a:buFont typeface="League Spartan"/>
              <a:buNone/>
            </a:pPr>
            <a:r>
              <a:rPr b="1" i="0" lang="en-US" sz="1050" u="none" cap="none" strike="noStrike">
                <a:solidFill>
                  <a:srgbClr val="EFE8D8"/>
                </a:solidFill>
                <a:latin typeface="League Spartan"/>
                <a:ea typeface="League Spartan"/>
                <a:cs typeface="League Spartan"/>
                <a:sym typeface="League Spartan"/>
              </a:rPr>
              <a:t>KHẮC PHỤC TRIỆT ĐỂ LỖI TRANH CHẤP TRANH MUA RACE CONDITION (BUG_001)</a:t>
            </a:r>
            <a:endParaRPr b="0" i="0" sz="1050" u="none" cap="none" strike="noStrike">
              <a:solidFill>
                <a:schemeClr val="dk1"/>
              </a:solidFill>
              <a:latin typeface="Calibri"/>
              <a:ea typeface="Calibri"/>
              <a:cs typeface="Calibri"/>
              <a:sym typeface="Calibri"/>
            </a:endParaRPr>
          </a:p>
        </p:txBody>
      </p:sp>
      <p:sp>
        <p:nvSpPr>
          <p:cNvPr id="156" name="Google Shape;156;p18"/>
          <p:cNvSpPr/>
          <p:nvPr/>
        </p:nvSpPr>
        <p:spPr>
          <a:xfrm>
            <a:off x="361900" y="925200"/>
            <a:ext cx="4152900" cy="32847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8"/>
          <p:cNvSpPr/>
          <p:nvPr/>
        </p:nvSpPr>
        <p:spPr>
          <a:xfrm>
            <a:off x="419100" y="982350"/>
            <a:ext cx="1243500" cy="142500"/>
          </a:xfrm>
          <a:prstGeom prst="roundRect">
            <a:avLst>
              <a:gd fmla="val 7700"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8"/>
          <p:cNvSpPr/>
          <p:nvPr/>
        </p:nvSpPr>
        <p:spPr>
          <a:xfrm>
            <a:off x="469836" y="1009725"/>
            <a:ext cx="1452900" cy="8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600"/>
              <a:buFont typeface="Noto Sans SemiBold"/>
              <a:buNone/>
            </a:pPr>
            <a:r>
              <a:rPr b="0" i="0" lang="en-US" sz="600" u="none" cap="none" strike="noStrike">
                <a:solidFill>
                  <a:srgbClr val="D9D3C6"/>
                </a:solidFill>
                <a:latin typeface="Noto Sans SemiBold"/>
                <a:ea typeface="Noto Sans SemiBold"/>
                <a:cs typeface="Noto Sans SemiBold"/>
                <a:sym typeface="Noto Sans SemiBold"/>
              </a:rPr>
              <a:t>UNPROTECTED READ-WRITE</a:t>
            </a:r>
            <a:endParaRPr b="0" i="0" sz="600" u="none" cap="none" strike="noStrike">
              <a:solidFill>
                <a:schemeClr val="dk1"/>
              </a:solidFill>
              <a:latin typeface="Calibri"/>
              <a:ea typeface="Calibri"/>
              <a:cs typeface="Calibri"/>
              <a:sym typeface="Calibri"/>
            </a:endParaRPr>
          </a:p>
        </p:txBody>
      </p:sp>
      <p:sp>
        <p:nvSpPr>
          <p:cNvPr id="159" name="Google Shape;159;p18"/>
          <p:cNvSpPr/>
          <p:nvPr/>
        </p:nvSpPr>
        <p:spPr>
          <a:xfrm>
            <a:off x="419100" y="1147093"/>
            <a:ext cx="4000500" cy="1485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00"/>
              <a:buFont typeface="Noto Sans"/>
              <a:buNone/>
            </a:pPr>
            <a:r>
              <a:rPr b="0" i="0" lang="en-US" sz="900" u="none" cap="none" strike="noStrike">
                <a:solidFill>
                  <a:srgbClr val="D9D3C6"/>
                </a:solidFill>
                <a:latin typeface="Noto Sans"/>
                <a:ea typeface="Noto Sans"/>
                <a:cs typeface="Noto Sans"/>
                <a:sym typeface="Noto Sans"/>
              </a:rPr>
              <a:t>CODE LỖI BAN ĐẦU (GHI ĐÈ DỮ LIỆU)</a:t>
            </a:r>
            <a:endParaRPr b="0" i="0" sz="900" u="none" cap="none" strike="noStrike">
              <a:solidFill>
                <a:schemeClr val="dk1"/>
              </a:solidFill>
              <a:latin typeface="Calibri"/>
              <a:ea typeface="Calibri"/>
              <a:cs typeface="Calibri"/>
              <a:sym typeface="Calibri"/>
            </a:endParaRPr>
          </a:p>
        </p:txBody>
      </p:sp>
      <p:sp>
        <p:nvSpPr>
          <p:cNvPr id="160" name="Google Shape;160;p18"/>
          <p:cNvSpPr/>
          <p:nvPr/>
        </p:nvSpPr>
        <p:spPr>
          <a:xfrm>
            <a:off x="361900" y="1398475"/>
            <a:ext cx="4057800" cy="1499400"/>
          </a:xfrm>
          <a:prstGeom prst="roundRect">
            <a:avLst>
              <a:gd fmla="val 915"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8"/>
          <p:cNvSpPr/>
          <p:nvPr/>
        </p:nvSpPr>
        <p:spPr>
          <a:xfrm>
            <a:off x="520572" y="1489843"/>
            <a:ext cx="3797700" cy="13167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 1. Đọc dữ liệu từ DB</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const auction = await Auction.findById(id);</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 2. Kiểm tra điều kiện trên RAM</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if (amount &gt;= auction.currentPrice + step) {</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  // 2 Request cùng vượt qua điều kiện!</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  auction.currentPrice = amount;</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  // 3. Ghi đè vào DB - Race Condition!</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  await auction.save();</a:t>
            </a:r>
            <a:endParaRPr b="0" i="0" sz="9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900" u="none" cap="none" strike="noStrike">
                <a:solidFill>
                  <a:srgbClr val="8B949E"/>
                </a:solidFill>
                <a:latin typeface="Consolas"/>
                <a:ea typeface="Consolas"/>
                <a:cs typeface="Consolas"/>
                <a:sym typeface="Consolas"/>
              </a:rPr>
              <a:t>}</a:t>
            </a:r>
            <a:endParaRPr b="0" i="0" sz="900" u="none" cap="none" strike="noStrike">
              <a:solidFill>
                <a:schemeClr val="dk1"/>
              </a:solidFill>
              <a:latin typeface="Calibri"/>
              <a:ea typeface="Calibri"/>
              <a:cs typeface="Calibri"/>
              <a:sym typeface="Calibri"/>
            </a:endParaRPr>
          </a:p>
        </p:txBody>
      </p:sp>
      <p:sp>
        <p:nvSpPr>
          <p:cNvPr id="162" name="Google Shape;162;p18"/>
          <p:cNvSpPr/>
          <p:nvPr/>
        </p:nvSpPr>
        <p:spPr>
          <a:xfrm>
            <a:off x="574800" y="3483163"/>
            <a:ext cx="3844800" cy="204900"/>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D9D3C6"/>
              </a:buClr>
              <a:buSzPts val="700"/>
              <a:buFont typeface="Noto Sans"/>
              <a:buNone/>
            </a:pPr>
            <a:r>
              <a:rPr b="1" i="0" lang="en-US" sz="1100" u="none" cap="none" strike="noStrike">
                <a:solidFill>
                  <a:srgbClr val="D9D3C6"/>
                </a:solidFill>
                <a:latin typeface="Noto Sans"/>
                <a:ea typeface="Noto Sans"/>
                <a:cs typeface="Noto Sans"/>
                <a:sym typeface="Noto Sans"/>
              </a:rPr>
              <a:t>Hậu quả: 2 Request cùng giá 2.500.000đ được chấp nhận song song, tạo ra 2 bản ghi giá trùng nhau trong DB.</a:t>
            </a:r>
            <a:endParaRPr b="0" i="0" sz="1100" u="none" cap="none" strike="noStrike">
              <a:solidFill>
                <a:schemeClr val="dk1"/>
              </a:solidFill>
              <a:latin typeface="Calibri"/>
              <a:ea typeface="Calibri"/>
              <a:cs typeface="Calibri"/>
              <a:sym typeface="Calibri"/>
            </a:endParaRPr>
          </a:p>
        </p:txBody>
      </p:sp>
      <p:sp>
        <p:nvSpPr>
          <p:cNvPr id="163" name="Google Shape;163;p18"/>
          <p:cNvSpPr/>
          <p:nvPr/>
        </p:nvSpPr>
        <p:spPr>
          <a:xfrm>
            <a:off x="4629150" y="925200"/>
            <a:ext cx="4057800" cy="32847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p:nvPr/>
        </p:nvSpPr>
        <p:spPr>
          <a:xfrm>
            <a:off x="4724400" y="982340"/>
            <a:ext cx="1289521" cy="142503"/>
          </a:xfrm>
          <a:prstGeom prst="roundRect">
            <a:avLst>
              <a:gd fmla="val 7700"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
          <p:cNvSpPr/>
          <p:nvPr/>
        </p:nvSpPr>
        <p:spPr>
          <a:xfrm>
            <a:off x="4779243" y="1009724"/>
            <a:ext cx="1637035" cy="8773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600"/>
              <a:buFont typeface="Noto Sans SemiBold"/>
              <a:buNone/>
            </a:pPr>
            <a:r>
              <a:rPr b="0" i="0" lang="en-US" sz="600" u="none" cap="none" strike="noStrike">
                <a:solidFill>
                  <a:srgbClr val="D9D3C6"/>
                </a:solidFill>
                <a:latin typeface="Noto Sans SemiBold"/>
                <a:ea typeface="Noto Sans SemiBold"/>
                <a:cs typeface="Noto Sans SemiBold"/>
                <a:sym typeface="Noto Sans SemiBold"/>
              </a:rPr>
              <a:t>THREAD-SAFE CONCURRENCY</a:t>
            </a:r>
            <a:endParaRPr b="0" i="0" sz="600" u="none" cap="none" strike="noStrike">
              <a:solidFill>
                <a:schemeClr val="dk1"/>
              </a:solidFill>
              <a:latin typeface="Calibri"/>
              <a:ea typeface="Calibri"/>
              <a:cs typeface="Calibri"/>
              <a:sym typeface="Calibri"/>
            </a:endParaRPr>
          </a:p>
        </p:txBody>
      </p:sp>
      <p:sp>
        <p:nvSpPr>
          <p:cNvPr id="166" name="Google Shape;166;p18"/>
          <p:cNvSpPr/>
          <p:nvPr/>
        </p:nvSpPr>
        <p:spPr>
          <a:xfrm>
            <a:off x="4724400" y="1147093"/>
            <a:ext cx="4324350" cy="14853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00"/>
              <a:buFont typeface="Noto Sans"/>
              <a:buNone/>
            </a:pPr>
            <a:r>
              <a:rPr b="0" i="0" lang="en-US" sz="900" u="none" cap="none" strike="noStrike">
                <a:solidFill>
                  <a:srgbClr val="D9D3C6"/>
                </a:solidFill>
                <a:latin typeface="Noto Sans"/>
                <a:ea typeface="Noto Sans"/>
                <a:cs typeface="Noto Sans"/>
                <a:sym typeface="Noto Sans"/>
              </a:rPr>
              <a:t>CODE ĐÃ SỬA (REDLOCK + ATOMIC MONGO)</a:t>
            </a:r>
            <a:endParaRPr b="0" i="0" sz="900" u="none" cap="none" strike="noStrike">
              <a:solidFill>
                <a:schemeClr val="dk1"/>
              </a:solidFill>
              <a:latin typeface="Calibri"/>
              <a:ea typeface="Calibri"/>
              <a:cs typeface="Calibri"/>
              <a:sym typeface="Calibri"/>
            </a:endParaRPr>
          </a:p>
        </p:txBody>
      </p:sp>
      <p:sp>
        <p:nvSpPr>
          <p:cNvPr id="167" name="Google Shape;167;p18"/>
          <p:cNvSpPr/>
          <p:nvPr/>
        </p:nvSpPr>
        <p:spPr>
          <a:xfrm>
            <a:off x="4724400" y="1398475"/>
            <a:ext cx="3954600" cy="2084700"/>
          </a:xfrm>
          <a:prstGeom prst="roundRect">
            <a:avLst>
              <a:gd fmla="val 658"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8"/>
          <p:cNvSpPr/>
          <p:nvPr/>
        </p:nvSpPr>
        <p:spPr>
          <a:xfrm>
            <a:off x="4834076" y="1489850"/>
            <a:ext cx="3844800" cy="19020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1. Xin khóa phân tán Redis Redlock (500ms)</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const lock = await redlock.acquire([`lock:auction:${id}`], 500);</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try {</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 2. Toán tử nguyên tử Mongo updateOne chỉ ghi nếu currentPrice &lt; amount</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const result = await Auction.updateOne(</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 _id: id, currentPrice: { $lt: amount } },</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 $set: { currentPrice: amount, highestBidder: userId } }</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if (result.matchedCount === 0)</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throw new BusinessError(400, 'OUTBID_RACE_DETECTED');</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finally {</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  await lock.release(); // 3. Tự động giải phóng khóa</a:t>
            </a:r>
            <a:endParaRPr b="0" i="0" sz="80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8B949E"/>
              </a:buClr>
              <a:buSzPts val="700"/>
              <a:buFont typeface="Consolas"/>
              <a:buNone/>
            </a:pPr>
            <a:r>
              <a:rPr b="0" i="0" lang="en-US" sz="800" u="none" cap="none" strike="noStrike">
                <a:solidFill>
                  <a:srgbClr val="8B949E"/>
                </a:solidFill>
                <a:latin typeface="Consolas"/>
                <a:ea typeface="Consolas"/>
                <a:cs typeface="Consolas"/>
                <a:sym typeface="Consolas"/>
              </a:rPr>
              <a:t>}</a:t>
            </a:r>
            <a:endParaRPr b="0" i="0" sz="800" u="none" cap="none" strike="noStrike">
              <a:solidFill>
                <a:schemeClr val="dk1"/>
              </a:solidFill>
              <a:latin typeface="Calibri"/>
              <a:ea typeface="Calibri"/>
              <a:cs typeface="Calibri"/>
              <a:sym typeface="Calibri"/>
            </a:endParaRPr>
          </a:p>
        </p:txBody>
      </p:sp>
      <p:sp>
        <p:nvSpPr>
          <p:cNvPr id="169" name="Google Shape;169;p18"/>
          <p:cNvSpPr/>
          <p:nvPr/>
        </p:nvSpPr>
        <p:spPr>
          <a:xfrm>
            <a:off x="361900" y="4517775"/>
            <a:ext cx="7804500" cy="102300"/>
          </a:xfrm>
          <a:prstGeom prst="rect">
            <a:avLst/>
          </a:prstGeom>
          <a:noFill/>
          <a:ln>
            <a:noFill/>
          </a:ln>
        </p:spPr>
        <p:txBody>
          <a:bodyPr anchorCtr="0" anchor="t" bIns="0" lIns="0" spcFirstLastPara="1" rIns="0" wrap="square" tIns="0">
            <a:noAutofit/>
          </a:bodyPr>
          <a:lstStyle/>
          <a:p>
            <a:pPr indent="0" lvl="0" marL="0" marR="0" rtl="0" algn="l">
              <a:lnSpc>
                <a:spcPct val="93000"/>
              </a:lnSpc>
              <a:spcBef>
                <a:spcPts val="0"/>
              </a:spcBef>
              <a:spcAft>
                <a:spcPts val="0"/>
              </a:spcAft>
              <a:buClr>
                <a:srgbClr val="E3A72F"/>
              </a:buClr>
              <a:buSzPts val="700"/>
              <a:buFont typeface="Noto Sans"/>
              <a:buNone/>
            </a:pPr>
            <a:r>
              <a:rPr b="1" i="0" lang="en-US" sz="1300" u="none" cap="none" strike="noStrike">
                <a:solidFill>
                  <a:srgbClr val="E3A72F"/>
                </a:solidFill>
                <a:latin typeface="Noto Sans"/>
                <a:ea typeface="Noto Sans"/>
                <a:cs typeface="Noto Sans"/>
                <a:sym typeface="Noto Sans"/>
              </a:rPr>
              <a:t>Giải pháp: Ép tuần tự hóa triệt để qua Redis Lock và MongoDB Atomic Conditional Update ($lt).</a:t>
            </a:r>
            <a:endParaRPr b="0" i="0" sz="1300" u="none" cap="none" strike="noStrike">
              <a:solidFill>
                <a:schemeClr val="dk1"/>
              </a:solidFill>
              <a:latin typeface="Calibri"/>
              <a:ea typeface="Calibri"/>
              <a:cs typeface="Calibri"/>
              <a:sym typeface="Calibri"/>
            </a:endParaRPr>
          </a:p>
        </p:txBody>
      </p:sp>
      <p:sp>
        <p:nvSpPr>
          <p:cNvPr id="170" name="Google Shape;170;p18"/>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19"/>
          <p:cNvSpPr/>
          <p:nvPr/>
        </p:nvSpPr>
        <p:spPr>
          <a:xfrm>
            <a:off x="419100" y="419100"/>
            <a:ext cx="8724900" cy="13714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Noto Sans SemiBold"/>
              <a:buNone/>
            </a:pPr>
            <a:r>
              <a:rPr b="0" i="0" lang="en-US" sz="900" u="none" cap="none" strike="noStrike">
                <a:solidFill>
                  <a:srgbClr val="A39C8E"/>
                </a:solidFill>
                <a:latin typeface="Noto Sans SemiBold"/>
                <a:ea typeface="Noto Sans SemiBold"/>
                <a:cs typeface="Noto Sans SemiBold"/>
                <a:sym typeface="Noto Sans SemiBold"/>
              </a:rPr>
              <a:t>PHẦN III: SỬA LỖI BẢO MẬT PHÂN QUYỀN</a:t>
            </a:r>
            <a:endParaRPr b="0" i="0" sz="900" u="none" cap="none" strike="noStrike">
              <a:solidFill>
                <a:schemeClr val="dk1"/>
              </a:solidFill>
              <a:latin typeface="Calibri"/>
              <a:ea typeface="Calibri"/>
              <a:cs typeface="Calibri"/>
              <a:sym typeface="Calibri"/>
            </a:endParaRPr>
          </a:p>
        </p:txBody>
      </p:sp>
      <p:sp>
        <p:nvSpPr>
          <p:cNvPr id="178" name="Google Shape;178;p19"/>
          <p:cNvSpPr/>
          <p:nvPr/>
        </p:nvSpPr>
        <p:spPr>
          <a:xfrm>
            <a:off x="419100" y="661020"/>
            <a:ext cx="8305800" cy="2667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050"/>
              <a:buFont typeface="League Spartan"/>
              <a:buNone/>
            </a:pPr>
            <a:r>
              <a:rPr b="1" i="0" lang="en-US" sz="2050" u="none" cap="none" strike="noStrike">
                <a:solidFill>
                  <a:srgbClr val="EFE8D8"/>
                </a:solidFill>
                <a:latin typeface="League Spartan"/>
                <a:ea typeface="League Spartan"/>
                <a:cs typeface="League Spartan"/>
                <a:sym typeface="League Spartan"/>
              </a:rPr>
              <a:t>KHẮC PHỤC LỔ HỔNG PHÂN QUYỀN BOLA / RBAC (BUG_K08)</a:t>
            </a:r>
            <a:endParaRPr b="0" i="0" sz="2050" u="none" cap="none" strike="noStrike">
              <a:solidFill>
                <a:schemeClr val="dk1"/>
              </a:solidFill>
              <a:latin typeface="Calibri"/>
              <a:ea typeface="Calibri"/>
              <a:cs typeface="Calibri"/>
              <a:sym typeface="Calibri"/>
            </a:endParaRPr>
          </a:p>
        </p:txBody>
      </p:sp>
      <p:sp>
        <p:nvSpPr>
          <p:cNvPr id="179" name="Google Shape;179;p19"/>
          <p:cNvSpPr/>
          <p:nvPr/>
        </p:nvSpPr>
        <p:spPr>
          <a:xfrm>
            <a:off x="419100" y="1037258"/>
            <a:ext cx="3822725" cy="3809330"/>
          </a:xfrm>
          <a:prstGeom prst="roundRect">
            <a:avLst>
              <a:gd fmla="val 600"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
          <p:cNvSpPr/>
          <p:nvPr/>
        </p:nvSpPr>
        <p:spPr>
          <a:xfrm>
            <a:off x="590550" y="1208708"/>
            <a:ext cx="2534766" cy="237604"/>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a:off x="681930" y="1254398"/>
            <a:ext cx="2809205" cy="1462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Noto Sans SemiBold"/>
              <a:buNone/>
            </a:pPr>
            <a:r>
              <a:rPr b="0" i="0" lang="en-US" sz="950" u="none" cap="none" strike="noStrike">
                <a:solidFill>
                  <a:srgbClr val="D9D3C6"/>
                </a:solidFill>
                <a:latin typeface="Noto Sans SemiBold"/>
                <a:ea typeface="Noto Sans SemiBold"/>
                <a:cs typeface="Noto Sans SemiBold"/>
                <a:sym typeface="Noto Sans SemiBold"/>
              </a:rPr>
              <a:t>PHÂN TÍCH NGUYÊN NHÂN GỐC RỄ</a:t>
            </a:r>
            <a:endParaRPr b="0" i="0" sz="950" u="none" cap="none" strike="noStrike">
              <a:solidFill>
                <a:schemeClr val="dk1"/>
              </a:solidFill>
              <a:latin typeface="Calibri"/>
              <a:ea typeface="Calibri"/>
              <a:cs typeface="Calibri"/>
              <a:sym typeface="Calibri"/>
            </a:endParaRPr>
          </a:p>
        </p:txBody>
      </p:sp>
      <p:sp>
        <p:nvSpPr>
          <p:cNvPr id="182" name="Google Shape;182;p19"/>
          <p:cNvSpPr/>
          <p:nvPr/>
        </p:nvSpPr>
        <p:spPr>
          <a:xfrm>
            <a:off x="590550" y="1508224"/>
            <a:ext cx="3479825" cy="24765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Noto Sans"/>
              <a:buNone/>
            </a:pPr>
            <a:r>
              <a:rPr b="0" i="0" lang="en-US" sz="1500" u="none" cap="none" strike="noStrike">
                <a:solidFill>
                  <a:srgbClr val="D9D3C6"/>
                </a:solidFill>
                <a:latin typeface="Noto Sans"/>
                <a:ea typeface="Noto Sans"/>
                <a:cs typeface="Noto Sans"/>
                <a:sym typeface="Noto Sans"/>
              </a:rPr>
              <a:t>Thiếu Middleware authorize('admin')</a:t>
            </a:r>
            <a:endParaRPr b="0" i="0" sz="1500" u="none" cap="none" strike="noStrike">
              <a:solidFill>
                <a:schemeClr val="dk1"/>
              </a:solidFill>
              <a:latin typeface="Calibri"/>
              <a:ea typeface="Calibri"/>
              <a:cs typeface="Calibri"/>
              <a:sym typeface="Calibri"/>
            </a:endParaRPr>
          </a:p>
        </p:txBody>
      </p:sp>
      <p:sp>
        <p:nvSpPr>
          <p:cNvPr id="183" name="Google Shape;183;p19"/>
          <p:cNvSpPr/>
          <p:nvPr/>
        </p:nvSpPr>
        <p:spPr>
          <a:xfrm>
            <a:off x="590550" y="1865412"/>
            <a:ext cx="3479825" cy="179724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Noto Sans"/>
              <a:buNone/>
            </a:pPr>
            <a:r>
              <a:rPr b="0" i="0" lang="en-US" sz="1200" u="none" cap="none" strike="noStrike">
                <a:solidFill>
                  <a:srgbClr val="D9D3C6"/>
                </a:solidFill>
                <a:latin typeface="Noto Sans"/>
                <a:ea typeface="Noto Sans"/>
                <a:cs typeface="Noto Sans"/>
                <a:sym typeface="Noto Sans"/>
              </a:rPr>
              <a:t>Trong file Route ban đầu, endpoint hủy phiên chỉ khai báo Middleware (kiểm tra token JWT hợp lệ) mà bỏ qua bước xác thực vai trò . Do đó, bất kỳ tài khoản nào có Token đều gọi API này để cưỡng chế hủy phiên người khác.</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70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authenticate</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authorize('seller', 'admin')</a:t>
            </a:r>
            <a:endParaRPr b="0" i="0" sz="1200" u="none" cap="none" strike="noStrike">
              <a:solidFill>
                <a:schemeClr val="dk1"/>
              </a:solidFill>
              <a:latin typeface="Calibri"/>
              <a:ea typeface="Calibri"/>
              <a:cs typeface="Calibri"/>
              <a:sym typeface="Calibri"/>
            </a:endParaRPr>
          </a:p>
          <a:p>
            <a:pPr indent="0" lvl="0" marL="0" marR="0" rtl="0" algn="l">
              <a:lnSpc>
                <a:spcPct val="117000"/>
              </a:lnSpc>
              <a:spcBef>
                <a:spcPts val="0"/>
              </a:spcBef>
              <a:spcAft>
                <a:spcPts val="0"/>
              </a:spcAft>
              <a:buClr>
                <a:srgbClr val="D9D3C6"/>
              </a:buClr>
              <a:buSzPts val="1200"/>
              <a:buFont typeface="Consolas"/>
              <a:buNone/>
            </a:pPr>
            <a:r>
              <a:rPr b="0" i="0" lang="en-US" sz="1200" u="none" cap="none" strike="noStrike">
                <a:solidFill>
                  <a:srgbClr val="D9D3C6"/>
                </a:solidFill>
                <a:highlight>
                  <a:srgbClr val="2A2621"/>
                </a:highlight>
                <a:latin typeface="Consolas"/>
                <a:ea typeface="Consolas"/>
                <a:cs typeface="Consolas"/>
                <a:sym typeface="Consolas"/>
              </a:rPr>
              <a:t>role: bidder</a:t>
            </a:r>
            <a:endParaRPr b="0" i="0" sz="1200" u="none" cap="none" strike="noStrike">
              <a:solidFill>
                <a:schemeClr val="dk1"/>
              </a:solidFill>
              <a:latin typeface="Calibri"/>
              <a:ea typeface="Calibri"/>
              <a:cs typeface="Calibri"/>
              <a:sym typeface="Calibri"/>
            </a:endParaRPr>
          </a:p>
        </p:txBody>
      </p:sp>
      <p:sp>
        <p:nvSpPr>
          <p:cNvPr id="184" name="Google Shape;184;p19"/>
          <p:cNvSpPr/>
          <p:nvPr/>
        </p:nvSpPr>
        <p:spPr>
          <a:xfrm>
            <a:off x="590550" y="3753148"/>
            <a:ext cx="3479825" cy="807690"/>
          </a:xfrm>
          <a:prstGeom prst="roundRect">
            <a:avLst>
              <a:gd fmla="val 2830" name="adj"/>
            </a:avLst>
          </a:prstGeom>
          <a:solidFill>
            <a:srgbClr val="4B3F0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a:off x="742950" y="3943648"/>
            <a:ext cx="3175025" cy="42669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FFFFFF"/>
              </a:buClr>
              <a:buSzPts val="1200"/>
              <a:buFont typeface="Noto Sans"/>
              <a:buNone/>
            </a:pPr>
            <a:r>
              <a:rPr b="1" i="0" lang="en-US" sz="1200" u="none" cap="none" strike="noStrike">
                <a:solidFill>
                  <a:srgbClr val="FFFFFF"/>
                </a:solidFill>
                <a:latin typeface="Noto Sans"/>
                <a:ea typeface="Noto Sans"/>
                <a:cs typeface="Noto Sans"/>
                <a:sym typeface="Noto Sans"/>
              </a:rPr>
              <a:t>Rủi ro:</a:t>
            </a:r>
            <a:r>
              <a:rPr b="0" i="0" lang="en-US" sz="1200" u="none" cap="none" strike="noStrike">
                <a:solidFill>
                  <a:srgbClr val="FFFFFF"/>
                </a:solidFill>
                <a:latin typeface="Noto Sans"/>
                <a:ea typeface="Noto Sans"/>
                <a:cs typeface="Noto Sans"/>
                <a:sym typeface="Noto Sans"/>
              </a:rPr>
              <a:t> Bị tấn công leo thang đặc quyền (Privilege Escalation), phá hoại hệ thống.</a:t>
            </a:r>
            <a:endParaRPr b="0" i="0" sz="1200" u="none" cap="none" strike="noStrike">
              <a:solidFill>
                <a:schemeClr val="dk1"/>
              </a:solidFill>
              <a:latin typeface="Calibri"/>
              <a:ea typeface="Calibri"/>
              <a:cs typeface="Calibri"/>
              <a:sym typeface="Calibri"/>
            </a:endParaRPr>
          </a:p>
        </p:txBody>
      </p:sp>
      <p:sp>
        <p:nvSpPr>
          <p:cNvPr id="186" name="Google Shape;186;p19"/>
          <p:cNvSpPr/>
          <p:nvPr/>
        </p:nvSpPr>
        <p:spPr>
          <a:xfrm>
            <a:off x="4356050" y="1037258"/>
            <a:ext cx="4368850" cy="3809330"/>
          </a:xfrm>
          <a:prstGeom prst="roundRect">
            <a:avLst>
              <a:gd fmla="val 600"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4527500" y="1208708"/>
            <a:ext cx="2526357" cy="237604"/>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4618881" y="1254398"/>
            <a:ext cx="2800796" cy="1462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Noto Sans SemiBold"/>
              <a:buNone/>
            </a:pPr>
            <a:r>
              <a:rPr b="0" i="0" lang="en-US" sz="950" u="none" cap="none" strike="noStrike">
                <a:solidFill>
                  <a:srgbClr val="D9D3C6"/>
                </a:solidFill>
                <a:latin typeface="Noto Sans SemiBold"/>
                <a:ea typeface="Noto Sans SemiBold"/>
                <a:cs typeface="Noto Sans SemiBold"/>
                <a:sym typeface="Noto Sans SemiBold"/>
              </a:rPr>
              <a:t>MÃ NGUỒN MIDDLEWARE SỬA ĐỔI</a:t>
            </a:r>
            <a:endParaRPr b="0" i="0" sz="950" u="none" cap="none" strike="noStrike">
              <a:solidFill>
                <a:schemeClr val="dk1"/>
              </a:solidFill>
              <a:latin typeface="Calibri"/>
              <a:ea typeface="Calibri"/>
              <a:cs typeface="Calibri"/>
              <a:sym typeface="Calibri"/>
            </a:endParaRPr>
          </a:p>
        </p:txBody>
      </p:sp>
      <p:sp>
        <p:nvSpPr>
          <p:cNvPr id="189" name="Google Shape;189;p19"/>
          <p:cNvSpPr/>
          <p:nvPr/>
        </p:nvSpPr>
        <p:spPr>
          <a:xfrm>
            <a:off x="4527500" y="1542752"/>
            <a:ext cx="4025950" cy="2228255"/>
          </a:xfrm>
          <a:prstGeom prst="roundRect">
            <a:avLst>
              <a:gd fmla="val 577"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9"/>
          <p:cNvSpPr/>
          <p:nvPr/>
        </p:nvSpPr>
        <p:spPr>
          <a:xfrm>
            <a:off x="4630341" y="1628477"/>
            <a:ext cx="3820269" cy="205680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Middleware kiểm tra Role đa tầng</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const authorize = (...allowedRoles) =&gt;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return (req, res, next) =&gt;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if (!req.user || !allowedRoles.includes(req.user.role))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return res.status(403).json({</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success: false,</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error: 'FORBIDDEN_INSUFFICIENT_PERMISSIONS'</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next();</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700"/>
              <a:buFont typeface="Calibri"/>
              <a:buNone/>
            </a:pPr>
            <a:r>
              <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Gắn chặt vào Route Hủy Phiên</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router.post(</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'/:id/cancel',</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authenticate,</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authorize('seller', 'admin'),</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  auctionController.cancelAuction</a:t>
            </a:r>
            <a:endParaRPr b="0" i="0" sz="7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B949E"/>
              </a:buClr>
              <a:buSzPts val="700"/>
              <a:buFont typeface="Consolas"/>
              <a:buNone/>
            </a:pPr>
            <a:r>
              <a:rPr b="0" i="0" lang="en-US" sz="700" u="none" cap="none" strike="noStrike">
                <a:solidFill>
                  <a:srgbClr val="8B949E"/>
                </a:solidFill>
                <a:latin typeface="Consolas"/>
                <a:ea typeface="Consolas"/>
                <a:cs typeface="Consolas"/>
                <a:sym typeface="Consolas"/>
              </a:rPr>
              <a:t>);</a:t>
            </a:r>
            <a:endParaRPr b="0" i="0" sz="700" u="none" cap="none" strike="noStrike">
              <a:solidFill>
                <a:schemeClr val="dk1"/>
              </a:solidFill>
              <a:latin typeface="Calibri"/>
              <a:ea typeface="Calibri"/>
              <a:cs typeface="Calibri"/>
              <a:sym typeface="Calibri"/>
            </a:endParaRPr>
          </a:p>
        </p:txBody>
      </p:sp>
      <p:sp>
        <p:nvSpPr>
          <p:cNvPr id="191" name="Google Shape;191;p19"/>
          <p:cNvSpPr/>
          <p:nvPr/>
        </p:nvSpPr>
        <p:spPr>
          <a:xfrm>
            <a:off x="4527500" y="3867448"/>
            <a:ext cx="4025950" cy="807690"/>
          </a:xfrm>
          <a:prstGeom prst="roundRect">
            <a:avLst>
              <a:gd fmla="val 2830" name="adj"/>
            </a:avLst>
          </a:prstGeom>
          <a:solidFill>
            <a:srgbClr val="183A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
          <p:cNvSpPr/>
          <p:nvPr/>
        </p:nvSpPr>
        <p:spPr>
          <a:xfrm>
            <a:off x="4679900" y="4057948"/>
            <a:ext cx="3721150" cy="42669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FFFFFF"/>
              </a:buClr>
              <a:buSzPts val="1200"/>
              <a:buFont typeface="Noto Sans"/>
              <a:buNone/>
            </a:pPr>
            <a:r>
              <a:rPr b="1" i="0" lang="en-US" sz="1200" u="none" cap="none" strike="noStrike">
                <a:solidFill>
                  <a:srgbClr val="FFFFFF"/>
                </a:solidFill>
                <a:latin typeface="Noto Sans"/>
                <a:ea typeface="Noto Sans"/>
                <a:cs typeface="Noto Sans"/>
                <a:sym typeface="Noto Sans"/>
              </a:rPr>
              <a:t>Kết quả: Chặn đứng 100% request không có quyền, trả về HTTP 403 Forbidden.</a:t>
            </a:r>
            <a:endParaRPr b="0" i="0" sz="1200" u="none" cap="none" strike="noStrike">
              <a:solidFill>
                <a:schemeClr val="dk1"/>
              </a:solidFill>
              <a:latin typeface="Calibri"/>
              <a:ea typeface="Calibri"/>
              <a:cs typeface="Calibri"/>
              <a:sym typeface="Calibri"/>
            </a:endParaRPr>
          </a:p>
        </p:txBody>
      </p:sp>
      <p:sp>
        <p:nvSpPr>
          <p:cNvPr id="193" name="Google Shape;193;p19"/>
          <p:cNvSpPr/>
          <p:nvPr/>
        </p:nvSpPr>
        <p:spPr>
          <a:xfrm>
            <a:off x="8075200" y="4999000"/>
            <a:ext cx="1068900" cy="1461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p:nvPr/>
        </p:nvSpPr>
        <p:spPr>
          <a:xfrm>
            <a:off x="419100" y="419100"/>
            <a:ext cx="8724900" cy="1203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800"/>
              <a:buFont typeface="Noto Sans SemiBold"/>
              <a:buNone/>
            </a:pPr>
            <a:r>
              <a:rPr b="0" i="0" lang="en-US" sz="800" u="none" cap="none" strike="noStrike">
                <a:solidFill>
                  <a:srgbClr val="A39C8E"/>
                </a:solidFill>
                <a:latin typeface="Noto Sans SemiBold"/>
                <a:ea typeface="Noto Sans SemiBold"/>
                <a:cs typeface="Noto Sans SemiBold"/>
                <a:sym typeface="Noto Sans SemiBold"/>
              </a:rPr>
              <a:t>PHẦN III: TIỀN KIỂM BẢO VỆ ĐẦU VÀO</a:t>
            </a:r>
            <a:endParaRPr b="0" i="0" sz="800" u="none" cap="none" strike="noStrike">
              <a:solidFill>
                <a:schemeClr val="dk1"/>
              </a:solidFill>
              <a:latin typeface="Calibri"/>
              <a:ea typeface="Calibri"/>
              <a:cs typeface="Calibri"/>
              <a:sym typeface="Calibri"/>
            </a:endParaRPr>
          </a:p>
        </p:txBody>
      </p:sp>
      <p:sp>
        <p:nvSpPr>
          <p:cNvPr id="200" name="Google Shape;200;p20"/>
          <p:cNvSpPr/>
          <p:nvPr/>
        </p:nvSpPr>
        <p:spPr>
          <a:xfrm>
            <a:off x="419100" y="630442"/>
            <a:ext cx="8305800" cy="568523"/>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200"/>
              <a:buFont typeface="League Spartan"/>
              <a:buNone/>
            </a:pPr>
            <a:r>
              <a:rPr b="1" i="0" lang="en-US" sz="2200" u="none" cap="none" strike="noStrike">
                <a:solidFill>
                  <a:srgbClr val="EFE8D8"/>
                </a:solidFill>
                <a:latin typeface="League Spartan"/>
                <a:ea typeface="League Spartan"/>
                <a:cs typeface="League Spartan"/>
                <a:sym typeface="League Spartan"/>
              </a:rPr>
              <a:t>XỬ LÝ DỮ LIỆU ĐẦU VÀO VÀ BẢO VỆ ỨNG DỤNG KHỎI CRASH SẬP UNHANDLED</a:t>
            </a:r>
            <a:endParaRPr b="0" i="0" sz="2200" u="none" cap="none" strike="noStrike">
              <a:solidFill>
                <a:schemeClr val="dk1"/>
              </a:solidFill>
              <a:latin typeface="Calibri"/>
              <a:ea typeface="Calibri"/>
              <a:cs typeface="Calibri"/>
              <a:sym typeface="Calibri"/>
            </a:endParaRPr>
          </a:p>
        </p:txBody>
      </p:sp>
      <p:sp>
        <p:nvSpPr>
          <p:cNvPr id="201" name="Google Shape;201;p20"/>
          <p:cNvSpPr/>
          <p:nvPr/>
        </p:nvSpPr>
        <p:spPr>
          <a:xfrm>
            <a:off x="419100" y="1273075"/>
            <a:ext cx="4095600" cy="3437400"/>
          </a:xfrm>
          <a:prstGeom prst="roundRect">
            <a:avLst>
              <a:gd fmla="val 518"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0"/>
          <p:cNvSpPr/>
          <p:nvPr/>
        </p:nvSpPr>
        <p:spPr>
          <a:xfrm>
            <a:off x="609600" y="1425476"/>
            <a:ext cx="3714750" cy="21736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0" i="0" lang="en-US" sz="1300" u="none" cap="none" strike="noStrike">
                <a:solidFill>
                  <a:srgbClr val="D9D3C6"/>
                </a:solidFill>
                <a:latin typeface="Noto Sans"/>
                <a:ea typeface="Noto Sans"/>
                <a:cs typeface="Noto Sans"/>
                <a:sym typeface="Noto Sans"/>
              </a:rPr>
              <a:t>1. Bắt lỗi ObjectId Sai định dạng (Bug_K09)</a:t>
            </a:r>
            <a:endParaRPr b="0" i="0" sz="1300" u="none" cap="none" strike="noStrike">
              <a:solidFill>
                <a:schemeClr val="dk1"/>
              </a:solidFill>
              <a:latin typeface="Calibri"/>
              <a:ea typeface="Calibri"/>
              <a:cs typeface="Calibri"/>
              <a:sym typeface="Calibri"/>
            </a:endParaRPr>
          </a:p>
        </p:txBody>
      </p:sp>
      <p:sp>
        <p:nvSpPr>
          <p:cNvPr id="203" name="Google Shape;203;p20"/>
          <p:cNvSpPr/>
          <p:nvPr/>
        </p:nvSpPr>
        <p:spPr>
          <a:xfrm>
            <a:off x="609600" y="1727225"/>
            <a:ext cx="3714750" cy="77301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3C6"/>
              </a:buClr>
              <a:buSzPts val="1050"/>
              <a:buFont typeface="Consolas"/>
              <a:buNone/>
            </a:pPr>
            <a:r>
              <a:rPr b="0" i="0" lang="en-US" sz="1050" u="none" cap="none" strike="noStrike">
                <a:solidFill>
                  <a:srgbClr val="D9D3C6"/>
                </a:solidFill>
                <a:highlight>
                  <a:srgbClr val="2A2621"/>
                </a:highlight>
                <a:latin typeface="Consolas"/>
                <a:ea typeface="Consolas"/>
                <a:cs typeface="Consolas"/>
                <a:sym typeface="Consolas"/>
              </a:rPr>
              <a:t>/api/auctions/invalid-id-string</a:t>
            </a:r>
            <a:endParaRPr b="0" i="0" sz="1050" u="none" cap="none" strike="noStrike">
              <a:solidFill>
                <a:schemeClr val="dk1"/>
              </a:solidFill>
              <a:latin typeface="Calibri"/>
              <a:ea typeface="Calibri"/>
              <a:cs typeface="Calibri"/>
              <a:sym typeface="Calibri"/>
            </a:endParaRPr>
          </a:p>
          <a:p>
            <a:pPr indent="0" lvl="0" marL="0" marR="0" rtl="0" algn="l">
              <a:lnSpc>
                <a:spcPct val="110000"/>
              </a:lnSpc>
              <a:spcBef>
                <a:spcPts val="500"/>
              </a:spcBef>
              <a:spcAft>
                <a:spcPts val="0"/>
              </a:spcAft>
              <a:buClr>
                <a:srgbClr val="D9D3C6"/>
              </a:buClr>
              <a:buSzPts val="1050"/>
              <a:buFont typeface="Noto Sans"/>
              <a:buNone/>
            </a:pPr>
            <a:r>
              <a:rPr b="0" i="0" lang="en-US" sz="1050" u="none" cap="none" strike="noStrike">
                <a:solidFill>
                  <a:srgbClr val="D9D3C6"/>
                </a:solidFill>
                <a:latin typeface="Noto Sans"/>
                <a:ea typeface="Noto Sans"/>
                <a:cs typeface="Noto Sans"/>
                <a:sym typeface="Noto Sans"/>
              </a:rPr>
              <a:t>Khi client truyền URL , Driver Mongoose văng exception </a:t>
            </a:r>
            <a:r>
              <a:rPr b="1" i="0" lang="en-US" sz="1050" u="none" cap="none" strike="noStrike">
                <a:solidFill>
                  <a:srgbClr val="D9D3C6"/>
                </a:solidFill>
                <a:latin typeface="Noto Sans"/>
                <a:ea typeface="Noto Sans"/>
                <a:cs typeface="Noto Sans"/>
                <a:sym typeface="Noto Sans"/>
              </a:rPr>
              <a:t>CastError</a:t>
            </a:r>
            <a:r>
              <a:rPr b="0" i="0" lang="en-US" sz="1050" u="none" cap="none" strike="noStrike">
                <a:solidFill>
                  <a:srgbClr val="D9D3C6"/>
                </a:solidFill>
                <a:latin typeface="Noto Sans"/>
                <a:ea typeface="Noto Sans"/>
                <a:cs typeface="Noto Sans"/>
                <a:sym typeface="Noto Sans"/>
              </a:rPr>
              <a:t>. Nếu không try-catch sẽ làm văng HTTP 500 kèm Stack Trace nhạy cảm.</a:t>
            </a:r>
            <a:endParaRPr b="0" i="0" sz="1050" u="none" cap="none" strike="noStrike">
              <a:solidFill>
                <a:schemeClr val="dk1"/>
              </a:solidFill>
              <a:latin typeface="Calibri"/>
              <a:ea typeface="Calibri"/>
              <a:cs typeface="Calibri"/>
              <a:sym typeface="Calibri"/>
            </a:endParaRPr>
          </a:p>
        </p:txBody>
      </p:sp>
      <p:sp>
        <p:nvSpPr>
          <p:cNvPr id="204" name="Google Shape;204;p20"/>
          <p:cNvSpPr/>
          <p:nvPr/>
        </p:nvSpPr>
        <p:spPr>
          <a:xfrm>
            <a:off x="609600" y="2650703"/>
            <a:ext cx="3714750" cy="1551533"/>
          </a:xfrm>
          <a:prstGeom prst="roundRect">
            <a:avLst>
              <a:gd fmla="val 1293"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0"/>
          <p:cNvSpPr/>
          <p:nvPr/>
        </p:nvSpPr>
        <p:spPr>
          <a:xfrm>
            <a:off x="770111" y="2784425"/>
            <a:ext cx="3393728" cy="128408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if (!mongoose.Types.ObjectId.isValid(req.params.id)) {</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return res.status(400).json({</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success: false,</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error: 'INVALID_AUCTION_ID_FORMAT'</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a:t>
            </a:r>
            <a:endParaRPr b="0" i="0" sz="1050" u="none" cap="none" strike="noStrike">
              <a:solidFill>
                <a:schemeClr val="dk1"/>
              </a:solidFill>
              <a:latin typeface="Calibri"/>
              <a:ea typeface="Calibri"/>
              <a:cs typeface="Calibri"/>
              <a:sym typeface="Calibri"/>
            </a:endParaRPr>
          </a:p>
        </p:txBody>
      </p:sp>
      <p:sp>
        <p:nvSpPr>
          <p:cNvPr id="206" name="Google Shape;206;p20"/>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20"/>
          <p:cNvSpPr/>
          <p:nvPr/>
        </p:nvSpPr>
        <p:spPr>
          <a:xfrm>
            <a:off x="4629150" y="1273075"/>
            <a:ext cx="4095600" cy="3437400"/>
          </a:xfrm>
          <a:prstGeom prst="roundRect">
            <a:avLst>
              <a:gd fmla="val 518"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p:nvPr/>
        </p:nvSpPr>
        <p:spPr>
          <a:xfrm>
            <a:off x="4819650" y="1425476"/>
            <a:ext cx="3714750" cy="21736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Noto Sans"/>
              <a:buNone/>
            </a:pPr>
            <a:r>
              <a:rPr b="0" i="0" lang="en-US" sz="1300" u="none" cap="none" strike="noStrike">
                <a:solidFill>
                  <a:srgbClr val="D9D3C6"/>
                </a:solidFill>
                <a:latin typeface="Noto Sans"/>
                <a:ea typeface="Noto Sans"/>
                <a:cs typeface="Noto Sans"/>
                <a:sym typeface="Noto Sans"/>
              </a:rPr>
              <a:t>2. Thẩm định Bước giá Tập trung (Bug_K01)</a:t>
            </a:r>
            <a:endParaRPr b="0" i="0" sz="1300" u="none" cap="none" strike="noStrike">
              <a:solidFill>
                <a:schemeClr val="dk1"/>
              </a:solidFill>
              <a:latin typeface="Calibri"/>
              <a:ea typeface="Calibri"/>
              <a:cs typeface="Calibri"/>
              <a:sym typeface="Calibri"/>
            </a:endParaRPr>
          </a:p>
        </p:txBody>
      </p:sp>
      <p:sp>
        <p:nvSpPr>
          <p:cNvPr id="209" name="Google Shape;209;p20"/>
          <p:cNvSpPr/>
          <p:nvPr/>
        </p:nvSpPr>
        <p:spPr>
          <a:xfrm>
            <a:off x="4819650" y="1727225"/>
            <a:ext cx="3714750" cy="773013"/>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D9D3C6"/>
              </a:buClr>
              <a:buSzPts val="1050"/>
              <a:buFont typeface="Consolas"/>
              <a:buNone/>
            </a:pPr>
            <a:r>
              <a:rPr b="0" i="0" lang="en-US" sz="1050" u="none" cap="none" strike="noStrike">
                <a:solidFill>
                  <a:srgbClr val="D9D3C6"/>
                </a:solidFill>
                <a:highlight>
                  <a:srgbClr val="2A2621"/>
                </a:highlight>
                <a:latin typeface="Consolas"/>
                <a:ea typeface="Consolas"/>
                <a:cs typeface="Consolas"/>
                <a:sym typeface="Consolas"/>
              </a:rPr>
              <a:t>src/auctionEngine.js</a:t>
            </a:r>
            <a:endParaRPr b="0" i="0" sz="1050" u="none" cap="none" strike="noStrike">
              <a:solidFill>
                <a:schemeClr val="dk1"/>
              </a:solidFill>
              <a:latin typeface="Calibri"/>
              <a:ea typeface="Calibri"/>
              <a:cs typeface="Calibri"/>
              <a:sym typeface="Calibri"/>
            </a:endParaRPr>
          </a:p>
          <a:p>
            <a:pPr indent="0" lvl="0" marL="0" marR="0" rtl="0" algn="l">
              <a:lnSpc>
                <a:spcPct val="110000"/>
              </a:lnSpc>
              <a:spcBef>
                <a:spcPts val="500"/>
              </a:spcBef>
              <a:spcAft>
                <a:spcPts val="0"/>
              </a:spcAft>
              <a:buClr>
                <a:srgbClr val="D9D3C6"/>
              </a:buClr>
              <a:buSzPts val="1050"/>
              <a:buFont typeface="Noto Sans"/>
              <a:buNone/>
            </a:pPr>
            <a:r>
              <a:rPr b="0" i="0" lang="en-US" sz="1050" u="none" cap="none" strike="noStrike">
                <a:solidFill>
                  <a:srgbClr val="D9D3C6"/>
                </a:solidFill>
                <a:latin typeface="Noto Sans"/>
                <a:ea typeface="Noto Sans"/>
                <a:cs typeface="Noto Sans"/>
                <a:sym typeface="Noto Sans"/>
              </a:rPr>
              <a:t>Xây dựng hàm thẩm định bước giá tập trung bên trong module nhằm đảm bảo mọi request bid đều tuân thủ nguyên tắc toán học:</a:t>
            </a:r>
            <a:endParaRPr b="0" i="0" sz="1050" u="none" cap="none" strike="noStrike">
              <a:solidFill>
                <a:schemeClr val="dk1"/>
              </a:solidFill>
              <a:latin typeface="Calibri"/>
              <a:ea typeface="Calibri"/>
              <a:cs typeface="Calibri"/>
              <a:sym typeface="Calibri"/>
            </a:endParaRPr>
          </a:p>
        </p:txBody>
      </p:sp>
      <p:sp>
        <p:nvSpPr>
          <p:cNvPr id="210" name="Google Shape;210;p20"/>
          <p:cNvSpPr/>
          <p:nvPr/>
        </p:nvSpPr>
        <p:spPr>
          <a:xfrm>
            <a:off x="4819650" y="2650700"/>
            <a:ext cx="3714900" cy="2059800"/>
          </a:xfrm>
          <a:prstGeom prst="roundRect">
            <a:avLst>
              <a:gd fmla="val 915"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a:off x="4980161" y="2784425"/>
            <a:ext cx="3393728" cy="192613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const minAcceptable = currentBid + stepPrice;</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if (bidAmount &lt; minAcceptable) {</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return {</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valid: false,</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error: 'BID_AMOUNT_TOO_LOW',</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minAcceptable</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  };</a:t>
            </a:r>
            <a:endParaRPr b="0" i="0" sz="1050" u="none" cap="none" strike="noStrike">
              <a:solidFill>
                <a:schemeClr val="dk1"/>
              </a:solidFill>
              <a:latin typeface="Calibri"/>
              <a:ea typeface="Calibri"/>
              <a:cs typeface="Calibri"/>
              <a:sym typeface="Calibri"/>
            </a:endParaRPr>
          </a:p>
          <a:p>
            <a:pPr indent="0" lvl="0" marL="0" marR="0" rtl="0" algn="l">
              <a:lnSpc>
                <a:spcPct val="133000"/>
              </a:lnSpc>
              <a:spcBef>
                <a:spcPts val="0"/>
              </a:spcBef>
              <a:spcAft>
                <a:spcPts val="0"/>
              </a:spcAft>
              <a:buClr>
                <a:srgbClr val="FF7B72"/>
              </a:buClr>
              <a:buSzPts val="1050"/>
              <a:buFont typeface="Consolas"/>
              <a:buNone/>
            </a:pPr>
            <a:r>
              <a:rPr b="0" i="0" lang="en-US" sz="1050" u="none" cap="none" strike="noStrike">
                <a:solidFill>
                  <a:srgbClr val="FF7B72"/>
                </a:solidFill>
                <a:latin typeface="Consolas"/>
                <a:ea typeface="Consolas"/>
                <a:cs typeface="Consolas"/>
                <a:sym typeface="Consolas"/>
              </a:rPr>
              <a:t>}</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1"/>
          <p:cNvSpPr/>
          <p:nvPr/>
        </p:nvSpPr>
        <p:spPr>
          <a:xfrm>
            <a:off x="424300" y="398325"/>
            <a:ext cx="86592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Red Hat Text SemiBold"/>
              <a:buNone/>
            </a:pPr>
            <a:r>
              <a:rPr i="0" lang="en-US" sz="900" u="none" cap="none" strike="noStrike">
                <a:solidFill>
                  <a:srgbClr val="A39C8E"/>
                </a:solidFill>
                <a:latin typeface="Noto Sans SemiBold"/>
                <a:ea typeface="Noto Sans SemiBold"/>
                <a:cs typeface="Noto Sans SemiBold"/>
                <a:sym typeface="Noto Sans SemiBold"/>
              </a:rPr>
              <a:t>PHẦN IV: KIỂM THỬ TỰ ĐỘNG HỘP TRẮNG (WHITE-BOX TESTING)</a:t>
            </a:r>
            <a:endParaRPr i="0" sz="900" u="none" cap="none" strike="noStrike">
              <a:solidFill>
                <a:schemeClr val="dk1"/>
              </a:solidFill>
              <a:latin typeface="Noto Sans"/>
              <a:ea typeface="Noto Sans"/>
              <a:cs typeface="Noto Sans"/>
              <a:sym typeface="Noto Sans"/>
            </a:endParaRPr>
          </a:p>
        </p:txBody>
      </p:sp>
      <p:sp>
        <p:nvSpPr>
          <p:cNvPr id="218" name="Google Shape;218;p21"/>
          <p:cNvSpPr/>
          <p:nvPr/>
        </p:nvSpPr>
        <p:spPr>
          <a:xfrm>
            <a:off x="424400" y="647400"/>
            <a:ext cx="8659200" cy="3240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500"/>
              <a:buFont typeface="League Spartan"/>
              <a:buNone/>
            </a:pPr>
            <a:r>
              <a:rPr b="1" i="0" lang="en-US" sz="2300" u="none" cap="none" strike="noStrike">
                <a:solidFill>
                  <a:srgbClr val="EFE8D8"/>
                </a:solidFill>
                <a:latin typeface="League Spartan"/>
                <a:ea typeface="League Spartan"/>
                <a:cs typeface="League Spartan"/>
                <a:sym typeface="League Spartan"/>
              </a:rPr>
              <a:t>BỘ KIỂM THỬ ĐƠN VỊ JEST ĐẠT COVERAGE 100% TUYỆT ĐỐI</a:t>
            </a:r>
            <a:endParaRPr i="0" sz="2300" u="none" cap="none" strike="noStrike">
              <a:solidFill>
                <a:schemeClr val="dk1"/>
              </a:solidFill>
              <a:latin typeface="League Spartan"/>
              <a:ea typeface="League Spartan"/>
              <a:cs typeface="League Spartan"/>
              <a:sym typeface="League Spartan"/>
            </a:endParaRPr>
          </a:p>
        </p:txBody>
      </p:sp>
      <p:sp>
        <p:nvSpPr>
          <p:cNvPr id="219" name="Google Shape;219;p21"/>
          <p:cNvSpPr/>
          <p:nvPr/>
        </p:nvSpPr>
        <p:spPr>
          <a:xfrm>
            <a:off x="424300" y="1220825"/>
            <a:ext cx="3933900" cy="30207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20" name="Google Shape;220;p21"/>
          <p:cNvSpPr/>
          <p:nvPr/>
        </p:nvSpPr>
        <p:spPr>
          <a:xfrm>
            <a:off x="623475" y="1398721"/>
            <a:ext cx="3669000" cy="495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Red Hat Text"/>
              <a:buNone/>
            </a:pPr>
            <a:r>
              <a:rPr i="0" lang="en-US" sz="1500" u="none" cap="none" strike="noStrike">
                <a:solidFill>
                  <a:srgbClr val="D9D3C6"/>
                </a:solidFill>
                <a:latin typeface="Noto Sans"/>
                <a:ea typeface="Noto Sans"/>
                <a:cs typeface="Noto Sans"/>
                <a:sym typeface="Noto Sans"/>
              </a:rPr>
              <a:t>Thống kê Độ bao phủ Mã nguồn (Jest Coverage)</a:t>
            </a:r>
            <a:endParaRPr i="0" sz="1500" u="none" cap="none" strike="noStrike">
              <a:solidFill>
                <a:schemeClr val="dk1"/>
              </a:solidFill>
              <a:latin typeface="Noto Sans"/>
              <a:ea typeface="Noto Sans"/>
              <a:cs typeface="Noto Sans"/>
              <a:sym typeface="Noto Sans"/>
            </a:endParaRPr>
          </a:p>
        </p:txBody>
      </p:sp>
      <p:sp>
        <p:nvSpPr>
          <p:cNvPr id="221" name="Google Shape;221;p21"/>
          <p:cNvSpPr/>
          <p:nvPr/>
        </p:nvSpPr>
        <p:spPr>
          <a:xfrm>
            <a:off x="623475" y="2003558"/>
            <a:ext cx="3840600" cy="154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50"/>
              <a:buFont typeface="Red Hat Text"/>
              <a:buNone/>
            </a:pPr>
            <a:r>
              <a:rPr i="0" lang="en-US" sz="950" u="none" cap="none" strike="noStrike">
                <a:solidFill>
                  <a:srgbClr val="D9D3C6"/>
                </a:solidFill>
                <a:latin typeface="Noto Sans"/>
                <a:ea typeface="Noto Sans"/>
                <a:cs typeface="Noto Sans"/>
                <a:sym typeface="Noto Sans"/>
              </a:rPr>
              <a:t>src/auctionEngine.js</a:t>
            </a:r>
            <a:endParaRPr i="0" sz="950" u="none" cap="none" strike="noStrike">
              <a:solidFill>
                <a:schemeClr val="dk1"/>
              </a:solidFill>
              <a:latin typeface="Noto Sans"/>
              <a:ea typeface="Noto Sans"/>
              <a:cs typeface="Noto Sans"/>
              <a:sym typeface="Noto Sans"/>
            </a:endParaRPr>
          </a:p>
        </p:txBody>
      </p:sp>
      <p:sp>
        <p:nvSpPr>
          <p:cNvPr id="222" name="Google Shape;222;p21"/>
          <p:cNvSpPr/>
          <p:nvPr/>
        </p:nvSpPr>
        <p:spPr>
          <a:xfrm>
            <a:off x="623475" y="2248827"/>
            <a:ext cx="3669000" cy="639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i="0" lang="en-US" sz="1200" u="none" cap="none" strike="noStrike">
                <a:solidFill>
                  <a:srgbClr val="D9D3C6"/>
                </a:solidFill>
                <a:latin typeface="Noto Sans"/>
                <a:ea typeface="Noto Sans"/>
                <a:cs typeface="Noto Sans"/>
                <a:sym typeface="Noto Sans"/>
              </a:rPr>
              <a:t>Thực thi kiểm thử hộp trắng trực tiếp trên tập tin nghiệp vụ cốt lõi với 19 kịch bản test cases covers toàn bộ nhánh rẽ logic (Decision Coverage):</a:t>
            </a:r>
            <a:endParaRPr i="0" sz="1200" u="none" cap="none" strike="noStrike">
              <a:solidFill>
                <a:schemeClr val="dk1"/>
              </a:solidFill>
              <a:latin typeface="Noto Sans"/>
              <a:ea typeface="Noto Sans"/>
              <a:cs typeface="Noto Sans"/>
              <a:sym typeface="Noto Sans"/>
            </a:endParaRPr>
          </a:p>
        </p:txBody>
      </p:sp>
      <p:graphicFrame>
        <p:nvGraphicFramePr>
          <p:cNvPr id="223" name="Google Shape;223;p21"/>
          <p:cNvGraphicFramePr/>
          <p:nvPr/>
        </p:nvGraphicFramePr>
        <p:xfrm>
          <a:off x="623475" y="2979349"/>
          <a:ext cx="3000000" cy="3000000"/>
        </p:xfrm>
        <a:graphic>
          <a:graphicData uri="http://schemas.openxmlformats.org/drawingml/2006/table">
            <a:tbl>
              <a:tblPr>
                <a:noFill/>
                <a:tableStyleId>{61B79C1C-6812-4DCE-A759-B7A6D6BC150C}</a:tableStyleId>
              </a:tblPr>
              <a:tblGrid>
                <a:gridCol w="1834525"/>
                <a:gridCol w="1834525"/>
              </a:tblGrid>
              <a:tr h="548575">
                <a:tc>
                  <a:txBody>
                    <a:bodyPr/>
                    <a:lstStyle/>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100%</a:t>
                      </a:r>
                      <a:endParaRPr sz="1200" u="none" cap="none" strike="noStrike">
                        <a:latin typeface="Noto Sans"/>
                        <a:ea typeface="Noto Sans"/>
                        <a:cs typeface="Noto Sans"/>
                        <a:sym typeface="Noto Sans"/>
                      </a:endParaRPr>
                    </a:p>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Statements Coverage</a:t>
                      </a:r>
                      <a:endParaRPr sz="1200" u="none" cap="none" strike="noStrike">
                        <a:latin typeface="Noto Sans"/>
                        <a:ea typeface="Noto Sans"/>
                        <a:cs typeface="Noto Sans"/>
                        <a:sym typeface="Noto Sans"/>
                      </a:endParaRPr>
                    </a:p>
                  </a:txBody>
                  <a:tcPr marT="60950" marB="60950" marR="114300" marL="114300"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2A2621"/>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c>
                  <a:txBody>
                    <a:bodyPr/>
                    <a:lstStyle/>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100%</a:t>
                      </a:r>
                      <a:endParaRPr sz="1200" u="none" cap="none" strike="noStrike">
                        <a:latin typeface="Noto Sans"/>
                        <a:ea typeface="Noto Sans"/>
                        <a:cs typeface="Noto Sans"/>
                        <a:sym typeface="Noto Sans"/>
                      </a:endParaRPr>
                    </a:p>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Branch Coverage</a:t>
                      </a:r>
                      <a:endParaRPr sz="1200" u="none" cap="none" strike="noStrike">
                        <a:latin typeface="Noto Sans"/>
                        <a:ea typeface="Noto Sans"/>
                        <a:cs typeface="Noto Sans"/>
                        <a:sym typeface="Noto Sans"/>
                      </a:endParaRPr>
                    </a:p>
                  </a:txBody>
                  <a:tcPr marT="60950" marB="60950" marR="114300" marL="114300"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2A2621"/>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r>
              <a:tr h="548575">
                <a:tc>
                  <a:txBody>
                    <a:bodyPr/>
                    <a:lstStyle/>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100%</a:t>
                      </a:r>
                      <a:endParaRPr sz="1200" u="none" cap="none" strike="noStrike">
                        <a:latin typeface="Noto Sans"/>
                        <a:ea typeface="Noto Sans"/>
                        <a:cs typeface="Noto Sans"/>
                        <a:sym typeface="Noto Sans"/>
                      </a:endParaRPr>
                    </a:p>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Functions Coverage</a:t>
                      </a:r>
                      <a:endParaRPr sz="1200" u="none" cap="none" strike="noStrike">
                        <a:latin typeface="Noto Sans"/>
                        <a:ea typeface="Noto Sans"/>
                        <a:cs typeface="Noto Sans"/>
                        <a:sym typeface="Noto Sans"/>
                      </a:endParaRPr>
                    </a:p>
                  </a:txBody>
                  <a:tcPr marT="60950" marB="60950" marR="114300" marL="114300"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2A2621"/>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c>
                  <a:txBody>
                    <a:bodyPr/>
                    <a:lstStyle/>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100%</a:t>
                      </a:r>
                      <a:endParaRPr sz="1200" u="none" cap="none" strike="noStrike">
                        <a:latin typeface="Noto Sans"/>
                        <a:ea typeface="Noto Sans"/>
                        <a:cs typeface="Noto Sans"/>
                        <a:sym typeface="Noto Sans"/>
                      </a:endParaRPr>
                    </a:p>
                    <a:p>
                      <a:pPr indent="0" lvl="0" marL="0" marR="0" rtl="0" algn="l">
                        <a:spcBef>
                          <a:spcPts val="0"/>
                        </a:spcBef>
                        <a:spcAft>
                          <a:spcPts val="0"/>
                        </a:spcAft>
                        <a:buClr>
                          <a:srgbClr val="D9D3C6"/>
                        </a:buClr>
                        <a:buSzPts val="1200"/>
                        <a:buFont typeface="Red Hat Text"/>
                        <a:buNone/>
                      </a:pPr>
                      <a:r>
                        <a:rPr b="1" lang="en-US" sz="1200" u="none" cap="none" strike="noStrike">
                          <a:solidFill>
                            <a:srgbClr val="D9D3C6"/>
                          </a:solidFill>
                          <a:latin typeface="Noto Sans"/>
                          <a:ea typeface="Noto Sans"/>
                          <a:cs typeface="Noto Sans"/>
                          <a:sym typeface="Noto Sans"/>
                        </a:rPr>
                        <a:t>Lines Coverage</a:t>
                      </a:r>
                      <a:endParaRPr sz="1200" u="none" cap="none" strike="noStrike">
                        <a:latin typeface="Noto Sans"/>
                        <a:ea typeface="Noto Sans"/>
                        <a:cs typeface="Noto Sans"/>
                        <a:sym typeface="Noto Sans"/>
                      </a:endParaRPr>
                    </a:p>
                  </a:txBody>
                  <a:tcPr marT="60950" marB="60950" marR="114300" marL="114300" anchor="ctr">
                    <a:lnL cap="flat" cmpd="sng" w="12700">
                      <a:solidFill>
                        <a:srgbClr val="2A2621"/>
                      </a:solidFill>
                      <a:prstDash val="solid"/>
                      <a:round/>
                      <a:headEnd len="sm" w="sm" type="none"/>
                      <a:tailEnd len="sm" w="sm" type="none"/>
                    </a:lnL>
                    <a:lnR cap="flat" cmpd="sng" w="12700">
                      <a:solidFill>
                        <a:srgbClr val="2A2621"/>
                      </a:solidFill>
                      <a:prstDash val="solid"/>
                      <a:round/>
                      <a:headEnd len="sm" w="sm" type="none"/>
                      <a:tailEnd len="sm" w="sm" type="none"/>
                    </a:lnR>
                    <a:lnT cap="flat" cmpd="sng" w="12700">
                      <a:solidFill>
                        <a:srgbClr val="2A2621"/>
                      </a:solidFill>
                      <a:prstDash val="solid"/>
                      <a:round/>
                      <a:headEnd len="sm" w="sm" type="none"/>
                      <a:tailEnd len="sm" w="sm" type="none"/>
                    </a:lnT>
                    <a:lnB cap="flat" cmpd="sng" w="12700">
                      <a:solidFill>
                        <a:srgbClr val="2A2621"/>
                      </a:solidFill>
                      <a:prstDash val="solid"/>
                      <a:round/>
                      <a:headEnd len="sm" w="sm" type="none"/>
                      <a:tailEnd len="sm" w="sm" type="none"/>
                    </a:lnB>
                    <a:solidFill>
                      <a:srgbClr val="2A2621"/>
                    </a:solidFill>
                  </a:tcPr>
                </a:tc>
              </a:tr>
            </a:tbl>
          </a:graphicData>
        </a:graphic>
      </p:graphicFrame>
      <p:sp>
        <p:nvSpPr>
          <p:cNvPr id="224" name="Google Shape;224;p21"/>
          <p:cNvSpPr/>
          <p:nvPr/>
        </p:nvSpPr>
        <p:spPr>
          <a:xfrm>
            <a:off x="4488050" y="1220825"/>
            <a:ext cx="4170900" cy="30207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25" name="Google Shape;225;p21"/>
          <p:cNvSpPr/>
          <p:nvPr/>
        </p:nvSpPr>
        <p:spPr>
          <a:xfrm>
            <a:off x="4633883" y="1392275"/>
            <a:ext cx="3879000" cy="247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Red Hat Text"/>
              <a:buNone/>
            </a:pPr>
            <a:r>
              <a:rPr i="0" lang="en-US" sz="1500" u="none" cap="none" strike="noStrike">
                <a:solidFill>
                  <a:srgbClr val="D9D3C6"/>
                </a:solidFill>
                <a:latin typeface="Noto Sans"/>
                <a:ea typeface="Noto Sans"/>
                <a:cs typeface="Noto Sans"/>
                <a:sym typeface="Noto Sans"/>
              </a:rPr>
              <a:t>Các Kịch bản Test Biên (Edge Cases Covered)</a:t>
            </a:r>
            <a:endParaRPr i="0" sz="1500" u="none" cap="none" strike="noStrike">
              <a:solidFill>
                <a:schemeClr val="dk1"/>
              </a:solidFill>
              <a:latin typeface="Noto Sans"/>
              <a:ea typeface="Noto Sans"/>
              <a:cs typeface="Noto Sans"/>
              <a:sym typeface="Noto Sans"/>
            </a:endParaRPr>
          </a:p>
        </p:txBody>
      </p:sp>
      <p:sp>
        <p:nvSpPr>
          <p:cNvPr id="226" name="Google Shape;226;p21"/>
          <p:cNvSpPr/>
          <p:nvPr/>
        </p:nvSpPr>
        <p:spPr>
          <a:xfrm>
            <a:off x="4634008" y="2003562"/>
            <a:ext cx="4025100" cy="154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50"/>
              <a:buFont typeface="Red Hat Text"/>
              <a:buNone/>
            </a:pPr>
            <a:r>
              <a:rPr i="0" lang="en-US" sz="950" u="none" cap="none" strike="noStrike">
                <a:solidFill>
                  <a:srgbClr val="D9D3C6"/>
                </a:solidFill>
                <a:latin typeface="Noto Sans"/>
                <a:ea typeface="Noto Sans"/>
                <a:cs typeface="Noto Sans"/>
                <a:sym typeface="Noto Sans"/>
              </a:rPr>
              <a:t>currentPrice + stepPrice</a:t>
            </a:r>
            <a:endParaRPr i="0" sz="950" u="none" cap="none" strike="noStrike">
              <a:solidFill>
                <a:schemeClr val="dk1"/>
              </a:solidFill>
              <a:latin typeface="Noto Sans"/>
              <a:ea typeface="Noto Sans"/>
              <a:cs typeface="Noto Sans"/>
              <a:sym typeface="Noto Sans"/>
            </a:endParaRPr>
          </a:p>
        </p:txBody>
      </p:sp>
      <p:sp>
        <p:nvSpPr>
          <p:cNvPr id="227" name="Google Shape;227;p21"/>
          <p:cNvSpPr/>
          <p:nvPr/>
        </p:nvSpPr>
        <p:spPr>
          <a:xfrm>
            <a:off x="4634008" y="2329406"/>
            <a:ext cx="3879000" cy="1607700"/>
          </a:xfrm>
          <a:prstGeom prst="rect">
            <a:avLst/>
          </a:prstGeom>
          <a:noFill/>
          <a:ln>
            <a:noFill/>
          </a:ln>
        </p:spPr>
        <p:txBody>
          <a:bodyPr anchorCtr="0" anchor="t" bIns="0" lIns="0" spcFirstLastPara="1" rIns="0" wrap="square" tIns="0">
            <a:noAutofit/>
          </a:bodyPr>
          <a:lstStyle/>
          <a:p>
            <a:pPr indent="-243840" lvl="0" marL="243840" marR="0" rtl="0" algn="l">
              <a:lnSpc>
                <a:spcPct val="117000"/>
              </a:lnSpc>
              <a:spcBef>
                <a:spcPts val="0"/>
              </a:spcBef>
              <a:spcAft>
                <a:spcPts val="0"/>
              </a:spcAft>
              <a:buClr>
                <a:srgbClr val="D9D3C6"/>
              </a:buClr>
              <a:buSzPts val="1200"/>
              <a:buFont typeface="Red Hat Text"/>
              <a:buChar char="•"/>
            </a:pPr>
            <a:r>
              <a:rPr b="1" i="0" lang="en-US" sz="1200" u="none" cap="none" strike="noStrike">
                <a:solidFill>
                  <a:srgbClr val="D9D3C6"/>
                </a:solidFill>
                <a:latin typeface="Noto Sans"/>
                <a:ea typeface="Noto Sans"/>
                <a:cs typeface="Noto Sans"/>
                <a:sym typeface="Noto Sans"/>
              </a:rPr>
              <a:t>TC_ENGINE_01:</a:t>
            </a:r>
            <a:r>
              <a:rPr i="0" lang="en-US" sz="1200" u="none" cap="none" strike="noStrike">
                <a:solidFill>
                  <a:srgbClr val="D9D3C6"/>
                </a:solidFill>
                <a:latin typeface="Noto Sans"/>
                <a:ea typeface="Noto Sans"/>
                <a:cs typeface="Noto Sans"/>
                <a:sym typeface="Noto Sans"/>
              </a:rPr>
              <a:t> Chấp nhận bid bằng chính xác .</a:t>
            </a:r>
            <a:endParaRPr i="0" sz="1200" u="none" cap="none" strike="noStrike">
              <a:solidFill>
                <a:schemeClr val="dk1"/>
              </a:solidFill>
              <a:latin typeface="Noto Sans"/>
              <a:ea typeface="Noto Sans"/>
              <a:cs typeface="Noto Sans"/>
              <a:sym typeface="Noto Sans"/>
            </a:endParaRPr>
          </a:p>
          <a:p>
            <a:pPr indent="-243840" lvl="0" marL="243840" marR="0" rtl="0" algn="l">
              <a:lnSpc>
                <a:spcPct val="117000"/>
              </a:lnSpc>
              <a:spcBef>
                <a:spcPts val="0"/>
              </a:spcBef>
              <a:spcAft>
                <a:spcPts val="0"/>
              </a:spcAft>
              <a:buClr>
                <a:srgbClr val="D9D3C6"/>
              </a:buClr>
              <a:buSzPts val="1200"/>
              <a:buFont typeface="Red Hat Text"/>
              <a:buChar char="•"/>
            </a:pPr>
            <a:r>
              <a:rPr b="1" i="0" lang="en-US" sz="1200" u="none" cap="none" strike="noStrike">
                <a:solidFill>
                  <a:srgbClr val="D9D3C6"/>
                </a:solidFill>
                <a:latin typeface="Noto Sans"/>
                <a:ea typeface="Noto Sans"/>
                <a:cs typeface="Noto Sans"/>
                <a:sym typeface="Noto Sans"/>
              </a:rPr>
              <a:t>TC_ENGINE_02:</a:t>
            </a:r>
            <a:r>
              <a:rPr i="0" lang="en-US" sz="1200" u="none" cap="none" strike="noStrike">
                <a:solidFill>
                  <a:srgbClr val="D9D3C6"/>
                </a:solidFill>
                <a:latin typeface="Noto Sans"/>
                <a:ea typeface="Noto Sans"/>
                <a:cs typeface="Noto Sans"/>
                <a:sym typeface="Noto Sans"/>
              </a:rPr>
              <a:t> Từ chối bid thiếu 1 đồng so với bước giá tối thiểu quy định.</a:t>
            </a:r>
            <a:endParaRPr i="0" sz="1200" u="none" cap="none" strike="noStrike">
              <a:solidFill>
                <a:schemeClr val="dk1"/>
              </a:solidFill>
              <a:latin typeface="Noto Sans"/>
              <a:ea typeface="Noto Sans"/>
              <a:cs typeface="Noto Sans"/>
              <a:sym typeface="Noto Sans"/>
            </a:endParaRPr>
          </a:p>
          <a:p>
            <a:pPr indent="-243840" lvl="0" marL="243840" marR="0" rtl="0" algn="l">
              <a:lnSpc>
                <a:spcPct val="117000"/>
              </a:lnSpc>
              <a:spcBef>
                <a:spcPts val="0"/>
              </a:spcBef>
              <a:spcAft>
                <a:spcPts val="0"/>
              </a:spcAft>
              <a:buClr>
                <a:srgbClr val="D9D3C6"/>
              </a:buClr>
              <a:buSzPts val="1200"/>
              <a:buFont typeface="Red Hat Text"/>
              <a:buChar char="•"/>
            </a:pPr>
            <a:r>
              <a:rPr b="1" i="0" lang="en-US" sz="1200" u="none" cap="none" strike="noStrike">
                <a:solidFill>
                  <a:srgbClr val="D9D3C6"/>
                </a:solidFill>
                <a:latin typeface="Noto Sans"/>
                <a:ea typeface="Noto Sans"/>
                <a:cs typeface="Noto Sans"/>
                <a:sym typeface="Noto Sans"/>
              </a:rPr>
              <a:t>TC_ENGINE_03:</a:t>
            </a:r>
            <a:r>
              <a:rPr i="0" lang="en-US" sz="1200" u="none" cap="none" strike="noStrike">
                <a:solidFill>
                  <a:srgbClr val="D9D3C6"/>
                </a:solidFill>
                <a:latin typeface="Noto Sans"/>
                <a:ea typeface="Noto Sans"/>
                <a:cs typeface="Noto Sans"/>
                <a:sym typeface="Noto Sans"/>
              </a:rPr>
              <a:t> Chặn chủ phiên (Seller) tự đặt giá cho sản phẩm của chính mình.</a:t>
            </a:r>
            <a:endParaRPr i="0" sz="1200" u="none" cap="none" strike="noStrike">
              <a:solidFill>
                <a:schemeClr val="dk1"/>
              </a:solidFill>
              <a:latin typeface="Noto Sans"/>
              <a:ea typeface="Noto Sans"/>
              <a:cs typeface="Noto Sans"/>
              <a:sym typeface="Noto Sans"/>
            </a:endParaRPr>
          </a:p>
          <a:p>
            <a:pPr indent="-243840" lvl="0" marL="243840" marR="0" rtl="0" algn="l">
              <a:lnSpc>
                <a:spcPct val="117000"/>
              </a:lnSpc>
              <a:spcBef>
                <a:spcPts val="0"/>
              </a:spcBef>
              <a:spcAft>
                <a:spcPts val="0"/>
              </a:spcAft>
              <a:buClr>
                <a:srgbClr val="D9D3C6"/>
              </a:buClr>
              <a:buSzPts val="1200"/>
              <a:buFont typeface="Red Hat Text"/>
              <a:buChar char="•"/>
            </a:pPr>
            <a:r>
              <a:rPr b="1" i="0" lang="en-US" sz="1200" u="none" cap="none" strike="noStrike">
                <a:solidFill>
                  <a:srgbClr val="D9D3C6"/>
                </a:solidFill>
                <a:latin typeface="Noto Sans"/>
                <a:ea typeface="Noto Sans"/>
                <a:cs typeface="Noto Sans"/>
                <a:sym typeface="Noto Sans"/>
              </a:rPr>
              <a:t>TC_ENGINE_04:</a:t>
            </a:r>
            <a:r>
              <a:rPr i="0" lang="en-US" sz="1200" u="none" cap="none" strike="noStrike">
                <a:solidFill>
                  <a:srgbClr val="D9D3C6"/>
                </a:solidFill>
                <a:latin typeface="Noto Sans"/>
                <a:ea typeface="Noto Sans"/>
                <a:cs typeface="Noto Sans"/>
                <a:sym typeface="Noto Sans"/>
              </a:rPr>
              <a:t> Chặn người đang giữ giá cao nhất (Highest Bidder) tự đặt đè giá của mình.</a:t>
            </a:r>
            <a:endParaRPr i="0" sz="1200" u="none" cap="none" strike="noStrike">
              <a:solidFill>
                <a:schemeClr val="dk1"/>
              </a:solidFill>
              <a:latin typeface="Noto Sans"/>
              <a:ea typeface="Noto Sans"/>
              <a:cs typeface="Noto Sans"/>
              <a:sym typeface="Noto Sans"/>
            </a:endParaRPr>
          </a:p>
        </p:txBody>
      </p:sp>
      <p:sp>
        <p:nvSpPr>
          <p:cNvPr id="228" name="Google Shape;228;p21"/>
          <p:cNvSpPr/>
          <p:nvPr/>
        </p:nvSpPr>
        <p:spPr>
          <a:xfrm>
            <a:off x="1039125" y="4528600"/>
            <a:ext cx="7273500" cy="154800"/>
          </a:xfrm>
          <a:prstGeom prst="rect">
            <a:avLst/>
          </a:prstGeom>
          <a:noFill/>
          <a:ln>
            <a:noFill/>
          </a:ln>
        </p:spPr>
        <p:txBody>
          <a:bodyPr anchorCtr="0" anchor="t" bIns="0" lIns="0" spcFirstLastPara="1" rIns="0" wrap="square" tIns="0">
            <a:noAutofit/>
          </a:bodyPr>
          <a:lstStyle/>
          <a:p>
            <a:pPr indent="0" lvl="0" marL="0" marR="0" rtl="0" algn="ctr">
              <a:lnSpc>
                <a:spcPct val="108000"/>
              </a:lnSpc>
              <a:spcBef>
                <a:spcPts val="0"/>
              </a:spcBef>
              <a:spcAft>
                <a:spcPts val="0"/>
              </a:spcAft>
              <a:buClr>
                <a:srgbClr val="E85A3C"/>
              </a:buClr>
              <a:buSzPts val="950"/>
              <a:buFont typeface="Red Hat Text"/>
              <a:buNone/>
            </a:pPr>
            <a:r>
              <a:rPr b="1" i="0" lang="en-US" sz="1450" u="none" cap="none" strike="noStrike">
                <a:solidFill>
                  <a:srgbClr val="E85A3C"/>
                </a:solidFill>
                <a:latin typeface="Noto Sans"/>
                <a:ea typeface="Noto Sans"/>
                <a:cs typeface="Noto Sans"/>
                <a:sym typeface="Noto Sans"/>
              </a:rPr>
              <a:t>Xác nhận mọi câu lệnh và nhánh điều kiện logic đều được thực thi nghiệm thu.</a:t>
            </a:r>
            <a:endParaRPr i="0" sz="1450" u="none" cap="none" strike="noStrike">
              <a:solidFill>
                <a:schemeClr val="dk1"/>
              </a:solidFill>
              <a:latin typeface="Noto Sans"/>
              <a:ea typeface="Noto Sans"/>
              <a:cs typeface="Noto Sans"/>
              <a:sym typeface="Noto Sans"/>
            </a:endParaRPr>
          </a:p>
        </p:txBody>
      </p:sp>
      <p:sp>
        <p:nvSpPr>
          <p:cNvPr id="229" name="Google Shape;229;p21"/>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p:nvPr/>
        </p:nvSpPr>
        <p:spPr>
          <a:xfrm>
            <a:off x="419100" y="271900"/>
            <a:ext cx="8724900" cy="11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750"/>
              <a:buFont typeface="Red Hat Text SemiBold"/>
              <a:buNone/>
            </a:pPr>
            <a:r>
              <a:rPr i="0" lang="en-US" sz="750" u="none" cap="none" strike="noStrike">
                <a:solidFill>
                  <a:srgbClr val="A39C8E"/>
                </a:solidFill>
                <a:latin typeface="Noto Sans SemiBold"/>
                <a:ea typeface="Noto Sans SemiBold"/>
                <a:cs typeface="Noto Sans SemiBold"/>
                <a:sym typeface="Noto Sans SemiBold"/>
              </a:rPr>
              <a:t>PHẦN IV: KIỂM THỬ TỰ ĐỘNG API TÍCH HỢP</a:t>
            </a:r>
            <a:endParaRPr i="0" sz="750" u="none" cap="none" strike="noStrike">
              <a:solidFill>
                <a:schemeClr val="dk1"/>
              </a:solidFill>
              <a:latin typeface="Noto Sans"/>
              <a:ea typeface="Noto Sans"/>
              <a:cs typeface="Noto Sans"/>
              <a:sym typeface="Noto Sans"/>
            </a:endParaRPr>
          </a:p>
        </p:txBody>
      </p:sp>
      <p:sp>
        <p:nvSpPr>
          <p:cNvPr id="236" name="Google Shape;236;p22"/>
          <p:cNvSpPr/>
          <p:nvPr/>
        </p:nvSpPr>
        <p:spPr>
          <a:xfrm>
            <a:off x="419100" y="477830"/>
            <a:ext cx="8305800" cy="278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150"/>
              <a:buFont typeface="League Spartan"/>
              <a:buNone/>
            </a:pPr>
            <a:r>
              <a:rPr b="1" i="0" lang="en-US" sz="2150" u="none" cap="none" strike="noStrike">
                <a:solidFill>
                  <a:srgbClr val="EFE8D8"/>
                </a:solidFill>
                <a:latin typeface="League Spartan"/>
                <a:ea typeface="League Spartan"/>
                <a:cs typeface="League Spartan"/>
                <a:sym typeface="League Spartan"/>
              </a:rPr>
              <a:t>BỘ KIỂM THỬ REST API TỰ ĐỘNG HÓA VỚI JEST &amp; POSTMAN</a:t>
            </a:r>
            <a:endParaRPr i="0" sz="2150" u="none" cap="none" strike="noStrike">
              <a:solidFill>
                <a:schemeClr val="dk1"/>
              </a:solidFill>
              <a:latin typeface="League Spartan"/>
              <a:ea typeface="League Spartan"/>
              <a:cs typeface="League Spartan"/>
              <a:sym typeface="League Spartan"/>
            </a:endParaRPr>
          </a:p>
        </p:txBody>
      </p:sp>
      <p:sp>
        <p:nvSpPr>
          <p:cNvPr id="237" name="Google Shape;237;p22"/>
          <p:cNvSpPr/>
          <p:nvPr/>
        </p:nvSpPr>
        <p:spPr>
          <a:xfrm>
            <a:off x="419100" y="825615"/>
            <a:ext cx="4095900" cy="18393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38" name="Google Shape;238;p22"/>
          <p:cNvSpPr/>
          <p:nvPr/>
        </p:nvSpPr>
        <p:spPr>
          <a:xfrm>
            <a:off x="495300" y="901815"/>
            <a:ext cx="2311200" cy="204000"/>
          </a:xfrm>
          <a:prstGeom prst="roundRect">
            <a:avLst>
              <a:gd fmla="val 7696"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39" name="Google Shape;239;p22"/>
          <p:cNvSpPr/>
          <p:nvPr/>
        </p:nvSpPr>
        <p:spPr>
          <a:xfrm>
            <a:off x="573807" y="941031"/>
            <a:ext cx="2611500" cy="12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800"/>
              <a:buFont typeface="Red Hat Text SemiBold"/>
              <a:buNone/>
            </a:pPr>
            <a:r>
              <a:rPr i="0" lang="en-US" sz="800" u="none" cap="none" strike="noStrike">
                <a:solidFill>
                  <a:srgbClr val="D9D3C6"/>
                </a:solidFill>
                <a:latin typeface="Noto Sans SemiBold"/>
                <a:ea typeface="Noto Sans SemiBold"/>
                <a:cs typeface="Noto Sans SemiBold"/>
                <a:sym typeface="Noto Sans SemiBold"/>
              </a:rPr>
              <a:t>AUTOMATED API INTEGRATION TEST</a:t>
            </a:r>
            <a:endParaRPr i="0" sz="800" u="none" cap="none" strike="noStrike">
              <a:solidFill>
                <a:schemeClr val="dk1"/>
              </a:solidFill>
              <a:latin typeface="Noto Sans"/>
              <a:ea typeface="Noto Sans"/>
              <a:cs typeface="Noto Sans"/>
              <a:sym typeface="Noto Sans"/>
            </a:endParaRPr>
          </a:p>
        </p:txBody>
      </p:sp>
      <p:sp>
        <p:nvSpPr>
          <p:cNvPr id="240" name="Google Shape;240;p22"/>
          <p:cNvSpPr/>
          <p:nvPr/>
        </p:nvSpPr>
        <p:spPr>
          <a:xfrm>
            <a:off x="495300" y="1151474"/>
            <a:ext cx="3943200" cy="2127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Red Hat Text"/>
              <a:buNone/>
            </a:pPr>
            <a:r>
              <a:rPr i="0" lang="en-US" sz="1300" u="none" cap="none" strike="noStrike">
                <a:solidFill>
                  <a:srgbClr val="D9D3C6"/>
                </a:solidFill>
                <a:latin typeface="Noto Sans"/>
                <a:ea typeface="Noto Sans"/>
                <a:cs typeface="Noto Sans"/>
                <a:sym typeface="Noto Sans"/>
              </a:rPr>
              <a:t>16/16 API Test Cases PASS (3.14s)</a:t>
            </a:r>
            <a:endParaRPr i="0" sz="1300" u="none" cap="none" strike="noStrike">
              <a:solidFill>
                <a:schemeClr val="dk1"/>
              </a:solidFill>
              <a:latin typeface="Noto Sans"/>
              <a:ea typeface="Noto Sans"/>
              <a:cs typeface="Noto Sans"/>
              <a:sym typeface="Noto Sans"/>
            </a:endParaRPr>
          </a:p>
        </p:txBody>
      </p:sp>
      <p:sp>
        <p:nvSpPr>
          <p:cNvPr id="241" name="Google Shape;241;p22"/>
          <p:cNvSpPr/>
          <p:nvPr/>
        </p:nvSpPr>
        <p:spPr>
          <a:xfrm>
            <a:off x="495300" y="1444814"/>
            <a:ext cx="3943200" cy="5106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050"/>
              <a:buFont typeface="Red Hat Text"/>
              <a:buNone/>
            </a:pPr>
            <a:r>
              <a:rPr i="0" lang="en-US" sz="1050" u="none" cap="none" strike="noStrike">
                <a:solidFill>
                  <a:srgbClr val="D9D3C6"/>
                </a:solidFill>
                <a:latin typeface="Noto Sans"/>
                <a:ea typeface="Noto Sans"/>
                <a:cs typeface="Noto Sans"/>
                <a:sym typeface="Noto Sans"/>
              </a:rPr>
              <a:t>Bộ test tự động hóa API sử dụng Jest + Axios kết hợp môi trường database mock/test sạch, thực thi kiểm thử tích hợp 16 API endpoints cốt lõi trong thời gian kỷ lục </a:t>
            </a:r>
            <a:r>
              <a:rPr b="1" i="0" lang="en-US" sz="1050" u="none" cap="none" strike="noStrike">
                <a:solidFill>
                  <a:srgbClr val="D9D3C6"/>
                </a:solidFill>
                <a:latin typeface="Noto Sans"/>
                <a:ea typeface="Noto Sans"/>
                <a:cs typeface="Noto Sans"/>
                <a:sym typeface="Noto Sans"/>
              </a:rPr>
              <a:t>3.14 giây</a:t>
            </a:r>
            <a:r>
              <a:rPr i="0" lang="en-US" sz="1050" u="none" cap="none" strike="noStrike">
                <a:solidFill>
                  <a:srgbClr val="D9D3C6"/>
                </a:solidFill>
                <a:latin typeface="Noto Sans"/>
                <a:ea typeface="Noto Sans"/>
                <a:cs typeface="Noto Sans"/>
                <a:sym typeface="Noto Sans"/>
              </a:rPr>
              <a:t>.</a:t>
            </a:r>
            <a:endParaRPr i="0" sz="1050" u="none" cap="none" strike="noStrike">
              <a:solidFill>
                <a:schemeClr val="dk1"/>
              </a:solidFill>
              <a:latin typeface="Noto Sans"/>
              <a:ea typeface="Noto Sans"/>
              <a:cs typeface="Noto Sans"/>
              <a:sym typeface="Noto Sans"/>
            </a:endParaRPr>
          </a:p>
        </p:txBody>
      </p:sp>
      <p:sp>
        <p:nvSpPr>
          <p:cNvPr id="242" name="Google Shape;242;p22"/>
          <p:cNvSpPr/>
          <p:nvPr/>
        </p:nvSpPr>
        <p:spPr>
          <a:xfrm>
            <a:off x="495300" y="2022044"/>
            <a:ext cx="3943200" cy="566700"/>
          </a:xfrm>
          <a:prstGeom prst="rect">
            <a:avLst/>
          </a:prstGeom>
          <a:noFill/>
          <a:ln>
            <a:noFill/>
          </a:ln>
        </p:spPr>
        <p:txBody>
          <a:bodyPr anchorCtr="0" anchor="t" bIns="0" lIns="0" spcFirstLastPara="1" rIns="0" wrap="square" tIns="0">
            <a:noAutofit/>
          </a:bodyPr>
          <a:lstStyle/>
          <a:p>
            <a:pPr indent="-213360" lvl="0" marL="213360" marR="0" rtl="0" algn="l">
              <a:lnSpc>
                <a:spcPct val="108000"/>
              </a:lnSpc>
              <a:spcBef>
                <a:spcPts val="0"/>
              </a:spcBef>
              <a:spcAft>
                <a:spcPts val="0"/>
              </a:spcAft>
              <a:buClr>
                <a:srgbClr val="D9D3C6"/>
              </a:buClr>
              <a:buSzPts val="1050"/>
              <a:buFont typeface="Noto Sans"/>
              <a:buChar char="•"/>
            </a:pPr>
            <a:r>
              <a:rPr i="0" lang="en-US" sz="1050" u="none" cap="none" strike="noStrike">
                <a:solidFill>
                  <a:srgbClr val="D9D3C6"/>
                </a:solidFill>
                <a:latin typeface="Noto Sans"/>
                <a:ea typeface="Noto Sans"/>
                <a:cs typeface="Noto Sans"/>
                <a:sym typeface="Noto Sans"/>
              </a:rPr>
              <a:t>Kiểm tra Header Authorization JWT Bearer Token.</a:t>
            </a:r>
            <a:endParaRPr i="0" sz="1050" u="none" cap="none" strike="noStrike">
              <a:solidFill>
                <a:schemeClr val="dk1"/>
              </a:solidFill>
              <a:latin typeface="Noto Sans"/>
              <a:ea typeface="Noto Sans"/>
              <a:cs typeface="Noto Sans"/>
              <a:sym typeface="Noto Sans"/>
            </a:endParaRPr>
          </a:p>
          <a:p>
            <a:pPr indent="-213360" lvl="0" marL="213360" marR="0" rtl="0" algn="l">
              <a:lnSpc>
                <a:spcPct val="108000"/>
              </a:lnSpc>
              <a:spcBef>
                <a:spcPts val="0"/>
              </a:spcBef>
              <a:spcAft>
                <a:spcPts val="0"/>
              </a:spcAft>
              <a:buClr>
                <a:srgbClr val="D9D3C6"/>
              </a:buClr>
              <a:buSzPts val="1050"/>
              <a:buFont typeface="Noto Sans"/>
              <a:buChar char="•"/>
            </a:pPr>
            <a:r>
              <a:rPr i="0" lang="en-US" sz="1050" u="none" cap="none" strike="noStrike">
                <a:solidFill>
                  <a:srgbClr val="D9D3C6"/>
                </a:solidFill>
                <a:latin typeface="Noto Sans"/>
                <a:ea typeface="Noto Sans"/>
                <a:cs typeface="Noto Sans"/>
                <a:sym typeface="Noto Sans"/>
              </a:rPr>
              <a:t>Thẩm định Schema phản hồi JSON RESTful chuẩn.</a:t>
            </a:r>
            <a:endParaRPr i="0" sz="1050" u="none" cap="none" strike="noStrike">
              <a:solidFill>
                <a:schemeClr val="dk1"/>
              </a:solidFill>
              <a:latin typeface="Noto Sans"/>
              <a:ea typeface="Noto Sans"/>
              <a:cs typeface="Noto Sans"/>
              <a:sym typeface="Noto Sans"/>
            </a:endParaRPr>
          </a:p>
          <a:p>
            <a:pPr indent="-213360" lvl="0" marL="213360" marR="0" rtl="0" algn="l">
              <a:lnSpc>
                <a:spcPct val="108000"/>
              </a:lnSpc>
              <a:spcBef>
                <a:spcPts val="0"/>
              </a:spcBef>
              <a:spcAft>
                <a:spcPts val="0"/>
              </a:spcAft>
              <a:buClr>
                <a:srgbClr val="D9D3C6"/>
              </a:buClr>
              <a:buSzPts val="1050"/>
              <a:buFont typeface="Noto Sans"/>
              <a:buChar char="•"/>
            </a:pPr>
            <a:r>
              <a:rPr i="0" lang="en-US" sz="1050" u="none" cap="none" strike="noStrike">
                <a:solidFill>
                  <a:srgbClr val="D9D3C6"/>
                </a:solidFill>
                <a:latin typeface="Noto Sans"/>
                <a:ea typeface="Noto Sans"/>
                <a:cs typeface="Noto Sans"/>
                <a:sym typeface="Noto Sans"/>
              </a:rPr>
              <a:t>Ánh xạ chính xác 11 lỗi hệ thống thực tế.</a:t>
            </a:r>
            <a:endParaRPr i="0" sz="1050" u="none" cap="none" strike="noStrike">
              <a:solidFill>
                <a:schemeClr val="dk1"/>
              </a:solidFill>
              <a:latin typeface="Noto Sans"/>
              <a:ea typeface="Noto Sans"/>
              <a:cs typeface="Noto Sans"/>
              <a:sym typeface="Noto Sans"/>
            </a:endParaRPr>
          </a:p>
        </p:txBody>
      </p:sp>
      <p:sp>
        <p:nvSpPr>
          <p:cNvPr id="243" name="Google Shape;243;p22"/>
          <p:cNvSpPr/>
          <p:nvPr/>
        </p:nvSpPr>
        <p:spPr>
          <a:xfrm>
            <a:off x="4671725" y="844240"/>
            <a:ext cx="4095900" cy="18393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44" name="Google Shape;244;p22"/>
          <p:cNvSpPr/>
          <p:nvPr/>
        </p:nvSpPr>
        <p:spPr>
          <a:xfrm>
            <a:off x="4747925" y="920440"/>
            <a:ext cx="2093100" cy="204000"/>
          </a:xfrm>
          <a:prstGeom prst="roundRect">
            <a:avLst>
              <a:gd fmla="val 7696"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45" name="Google Shape;245;p22"/>
          <p:cNvSpPr/>
          <p:nvPr/>
        </p:nvSpPr>
        <p:spPr>
          <a:xfrm>
            <a:off x="4826432" y="959656"/>
            <a:ext cx="2393100" cy="12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800"/>
              <a:buFont typeface="Red Hat Text SemiBold"/>
              <a:buNone/>
            </a:pPr>
            <a:r>
              <a:rPr i="0" lang="en-US" sz="800" u="none" cap="none" strike="noStrike">
                <a:solidFill>
                  <a:srgbClr val="D9D3C6"/>
                </a:solidFill>
                <a:latin typeface="Noto Sans SemiBold"/>
                <a:ea typeface="Noto Sans SemiBold"/>
                <a:cs typeface="Noto Sans SemiBold"/>
                <a:sym typeface="Noto Sans SemiBold"/>
              </a:rPr>
              <a:t>POSTMAN COLLECTION RUNNER</a:t>
            </a:r>
            <a:endParaRPr i="0" sz="800" u="none" cap="none" strike="noStrike">
              <a:solidFill>
                <a:schemeClr val="dk1"/>
              </a:solidFill>
              <a:latin typeface="Noto Sans"/>
              <a:ea typeface="Noto Sans"/>
              <a:cs typeface="Noto Sans"/>
              <a:sym typeface="Noto Sans"/>
            </a:endParaRPr>
          </a:p>
        </p:txBody>
      </p:sp>
      <p:sp>
        <p:nvSpPr>
          <p:cNvPr id="246" name="Google Shape;246;p22"/>
          <p:cNvSpPr/>
          <p:nvPr/>
        </p:nvSpPr>
        <p:spPr>
          <a:xfrm>
            <a:off x="4747925" y="1170099"/>
            <a:ext cx="3943200" cy="2127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300"/>
              <a:buFont typeface="Red Hat Text"/>
              <a:buNone/>
            </a:pPr>
            <a:r>
              <a:rPr i="0" lang="en-US" sz="1300" u="none" cap="none" strike="noStrike">
                <a:solidFill>
                  <a:srgbClr val="D9D3C6"/>
                </a:solidFill>
                <a:latin typeface="Noto Sans"/>
                <a:ea typeface="Noto Sans"/>
                <a:cs typeface="Noto Sans"/>
                <a:sym typeface="Noto Sans"/>
              </a:rPr>
              <a:t>Postman Automation Collection v2.1</a:t>
            </a:r>
            <a:endParaRPr i="0" sz="1300" u="none" cap="none" strike="noStrike">
              <a:solidFill>
                <a:schemeClr val="dk1"/>
              </a:solidFill>
              <a:latin typeface="Noto Sans"/>
              <a:ea typeface="Noto Sans"/>
              <a:cs typeface="Noto Sans"/>
              <a:sym typeface="Noto Sans"/>
            </a:endParaRPr>
          </a:p>
        </p:txBody>
      </p:sp>
      <p:sp>
        <p:nvSpPr>
          <p:cNvPr id="247" name="Google Shape;247;p22"/>
          <p:cNvSpPr/>
          <p:nvPr/>
        </p:nvSpPr>
        <p:spPr>
          <a:xfrm>
            <a:off x="4747925" y="1463439"/>
            <a:ext cx="3943200" cy="5106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050"/>
              <a:buFont typeface="Red Hat Text"/>
              <a:buNone/>
            </a:pPr>
            <a:r>
              <a:rPr i="0" lang="en-US" sz="1050" u="none" cap="none" strike="noStrike">
                <a:solidFill>
                  <a:srgbClr val="D9D3C6"/>
                </a:solidFill>
                <a:latin typeface="Noto Sans"/>
                <a:ea typeface="Noto Sans"/>
                <a:cs typeface="Noto Sans"/>
                <a:sym typeface="Noto Sans"/>
              </a:rPr>
              <a:t>Xây dựng Bộ sưu tập Postman Collection tích hợp các đoạn kịch bản JavaScript Test Scripts () kiểm tra tự động Status Code, Response Time và JSON Data Structure.</a:t>
            </a:r>
            <a:endParaRPr i="0" sz="1050" u="none" cap="none" strike="noStrike">
              <a:solidFill>
                <a:schemeClr val="dk1"/>
              </a:solidFill>
              <a:latin typeface="Noto Sans"/>
              <a:ea typeface="Noto Sans"/>
              <a:cs typeface="Noto Sans"/>
              <a:sym typeface="Noto Sans"/>
            </a:endParaRPr>
          </a:p>
        </p:txBody>
      </p:sp>
      <p:sp>
        <p:nvSpPr>
          <p:cNvPr id="248" name="Google Shape;248;p22"/>
          <p:cNvSpPr/>
          <p:nvPr/>
        </p:nvSpPr>
        <p:spPr>
          <a:xfrm>
            <a:off x="4747925" y="2040669"/>
            <a:ext cx="4019700" cy="132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800"/>
              <a:buFont typeface="Red Hat Text"/>
              <a:buNone/>
            </a:pPr>
            <a:r>
              <a:rPr i="0" lang="en-US" sz="800" u="none" cap="none" strike="noStrike">
                <a:solidFill>
                  <a:srgbClr val="D9D3C6"/>
                </a:solidFill>
                <a:latin typeface="Noto Sans"/>
                <a:ea typeface="Noto Sans"/>
                <a:cs typeface="Noto Sans"/>
                <a:sym typeface="Noto Sans"/>
              </a:rPr>
              <a:t>pm.test()</a:t>
            </a:r>
            <a:endParaRPr i="0" sz="800" u="none" cap="none" strike="noStrike">
              <a:solidFill>
                <a:schemeClr val="dk1"/>
              </a:solidFill>
              <a:latin typeface="Noto Sans"/>
              <a:ea typeface="Noto Sans"/>
              <a:cs typeface="Noto Sans"/>
              <a:sym typeface="Noto Sans"/>
            </a:endParaRPr>
          </a:p>
        </p:txBody>
      </p:sp>
      <p:sp>
        <p:nvSpPr>
          <p:cNvPr id="249" name="Google Shape;249;p22"/>
          <p:cNvSpPr/>
          <p:nvPr/>
        </p:nvSpPr>
        <p:spPr>
          <a:xfrm>
            <a:off x="419100" y="2812100"/>
            <a:ext cx="4095600" cy="1726500"/>
          </a:xfrm>
          <a:prstGeom prst="roundRect">
            <a:avLst>
              <a:gd fmla="val 1137" name="adj"/>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50" name="Google Shape;250;p22"/>
          <p:cNvSpPr/>
          <p:nvPr/>
        </p:nvSpPr>
        <p:spPr>
          <a:xfrm>
            <a:off x="576120" y="2942925"/>
            <a:ext cx="4095600" cy="14649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6EDF3"/>
              </a:buClr>
              <a:buSzPts val="1050"/>
              <a:buFont typeface="Consolas"/>
              <a:buNone/>
            </a:pPr>
            <a:r>
              <a:rPr i="0" lang="en-US" sz="1050" u="none" cap="none" strike="noStrike">
                <a:solidFill>
                  <a:srgbClr val="E6EDF3"/>
                </a:solidFill>
                <a:latin typeface="Noto Sans"/>
                <a:ea typeface="Noto Sans"/>
                <a:cs typeface="Noto Sans"/>
                <a:sym typeface="Noto Sans"/>
              </a:rPr>
              <a:t>pm.test("Status code is 200 OK", function () {</a:t>
            </a:r>
            <a:endParaRPr i="0" sz="1050" u="none" cap="none" strike="noStrike">
              <a:solidFill>
                <a:schemeClr val="dk1"/>
              </a:solidFill>
              <a:latin typeface="Noto Sans"/>
              <a:ea typeface="Noto Sans"/>
              <a:cs typeface="Noto Sans"/>
              <a:sym typeface="Noto Sans"/>
            </a:endParaRPr>
          </a:p>
          <a:p>
            <a:pPr indent="0" lvl="0" marL="0" marR="0" rtl="0" algn="l">
              <a:lnSpc>
                <a:spcPct val="133000"/>
              </a:lnSpc>
              <a:spcBef>
                <a:spcPts val="0"/>
              </a:spcBef>
              <a:spcAft>
                <a:spcPts val="0"/>
              </a:spcAft>
              <a:buClr>
                <a:srgbClr val="E6EDF3"/>
              </a:buClr>
              <a:buSzPts val="1050"/>
              <a:buFont typeface="Consolas"/>
              <a:buNone/>
            </a:pPr>
            <a:r>
              <a:rPr i="0" lang="en-US" sz="1050" u="none" cap="none" strike="noStrike">
                <a:solidFill>
                  <a:srgbClr val="E6EDF3"/>
                </a:solidFill>
                <a:latin typeface="Noto Sans"/>
                <a:ea typeface="Noto Sans"/>
                <a:cs typeface="Noto Sans"/>
                <a:sym typeface="Noto Sans"/>
              </a:rPr>
              <a:t>  pm.response.to.have.status(200);</a:t>
            </a:r>
            <a:endParaRPr i="0" sz="1050" u="none" cap="none" strike="noStrike">
              <a:solidFill>
                <a:schemeClr val="dk1"/>
              </a:solidFill>
              <a:latin typeface="Noto Sans"/>
              <a:ea typeface="Noto Sans"/>
              <a:cs typeface="Noto Sans"/>
              <a:sym typeface="Noto Sans"/>
            </a:endParaRPr>
          </a:p>
          <a:p>
            <a:pPr indent="0" lvl="0" marL="0" marR="0" rtl="0" algn="l">
              <a:lnSpc>
                <a:spcPct val="133000"/>
              </a:lnSpc>
              <a:spcBef>
                <a:spcPts val="0"/>
              </a:spcBef>
              <a:spcAft>
                <a:spcPts val="0"/>
              </a:spcAft>
              <a:buClr>
                <a:srgbClr val="E6EDF3"/>
              </a:buClr>
              <a:buSzPts val="1050"/>
              <a:buFont typeface="Consolas"/>
              <a:buNone/>
            </a:pPr>
            <a:r>
              <a:rPr i="0" lang="en-US" sz="1050" u="none" cap="none" strike="noStrike">
                <a:solidFill>
                  <a:srgbClr val="E6EDF3"/>
                </a:solidFill>
                <a:latin typeface="Noto Sans"/>
                <a:ea typeface="Noto Sans"/>
                <a:cs typeface="Noto Sans"/>
                <a:sym typeface="Noto Sans"/>
              </a:rPr>
              <a:t>});</a:t>
            </a:r>
            <a:endParaRPr i="0" sz="1050" u="none" cap="none" strike="noStrike">
              <a:solidFill>
                <a:schemeClr val="dk1"/>
              </a:solidFill>
              <a:latin typeface="Noto Sans"/>
              <a:ea typeface="Noto Sans"/>
              <a:cs typeface="Noto Sans"/>
              <a:sym typeface="Noto Sans"/>
            </a:endParaRPr>
          </a:p>
          <a:p>
            <a:pPr indent="0" lvl="0" marL="0" marR="0" rtl="0" algn="l">
              <a:lnSpc>
                <a:spcPct val="133000"/>
              </a:lnSpc>
              <a:spcBef>
                <a:spcPts val="0"/>
              </a:spcBef>
              <a:spcAft>
                <a:spcPts val="0"/>
              </a:spcAft>
              <a:buClr>
                <a:srgbClr val="E6EDF3"/>
              </a:buClr>
              <a:buSzPts val="1050"/>
              <a:buFont typeface="Consolas"/>
              <a:buNone/>
            </a:pPr>
            <a:r>
              <a:rPr i="0" lang="en-US" sz="1050" u="none" cap="none" strike="noStrike">
                <a:solidFill>
                  <a:srgbClr val="E6EDF3"/>
                </a:solidFill>
                <a:latin typeface="Noto Sans"/>
                <a:ea typeface="Noto Sans"/>
                <a:cs typeface="Noto Sans"/>
                <a:sym typeface="Noto Sans"/>
              </a:rPr>
              <a:t>pm.test("Transaction status is SUCCESS", function () {</a:t>
            </a:r>
            <a:endParaRPr i="0" sz="1050" u="none" cap="none" strike="noStrike">
              <a:solidFill>
                <a:schemeClr val="dk1"/>
              </a:solidFill>
              <a:latin typeface="Noto Sans"/>
              <a:ea typeface="Noto Sans"/>
              <a:cs typeface="Noto Sans"/>
              <a:sym typeface="Noto Sans"/>
            </a:endParaRPr>
          </a:p>
          <a:p>
            <a:pPr indent="0" lvl="0" marL="0" marR="0" rtl="0" algn="l">
              <a:lnSpc>
                <a:spcPct val="133000"/>
              </a:lnSpc>
              <a:spcBef>
                <a:spcPts val="0"/>
              </a:spcBef>
              <a:spcAft>
                <a:spcPts val="0"/>
              </a:spcAft>
              <a:buClr>
                <a:srgbClr val="E6EDF3"/>
              </a:buClr>
              <a:buSzPts val="1050"/>
              <a:buFont typeface="Consolas"/>
              <a:buNone/>
            </a:pPr>
            <a:r>
              <a:rPr i="0" lang="en-US" sz="1050" u="none" cap="none" strike="noStrike">
                <a:solidFill>
                  <a:srgbClr val="E6EDF3"/>
                </a:solidFill>
                <a:latin typeface="Noto Sans"/>
                <a:ea typeface="Noto Sans"/>
                <a:cs typeface="Noto Sans"/>
                <a:sym typeface="Noto Sans"/>
              </a:rPr>
              <a:t>  var jsonData = pm.response.json();</a:t>
            </a:r>
            <a:endParaRPr i="0" sz="1050" u="none" cap="none" strike="noStrike">
              <a:solidFill>
                <a:schemeClr val="dk1"/>
              </a:solidFill>
              <a:latin typeface="Noto Sans"/>
              <a:ea typeface="Noto Sans"/>
              <a:cs typeface="Noto Sans"/>
              <a:sym typeface="Noto Sans"/>
            </a:endParaRPr>
          </a:p>
          <a:p>
            <a:pPr indent="0" lvl="0" marL="0" marR="0" rtl="0" algn="l">
              <a:lnSpc>
                <a:spcPct val="133000"/>
              </a:lnSpc>
              <a:spcBef>
                <a:spcPts val="0"/>
              </a:spcBef>
              <a:spcAft>
                <a:spcPts val="0"/>
              </a:spcAft>
              <a:buClr>
                <a:srgbClr val="E6EDF3"/>
              </a:buClr>
              <a:buSzPts val="1050"/>
              <a:buFont typeface="Consolas"/>
              <a:buNone/>
            </a:pPr>
            <a:r>
              <a:rPr i="0" lang="en-US" sz="1050" u="none" cap="none" strike="noStrike">
                <a:solidFill>
                  <a:srgbClr val="E6EDF3"/>
                </a:solidFill>
                <a:latin typeface="Noto Sans"/>
                <a:ea typeface="Noto Sans"/>
                <a:cs typeface="Noto Sans"/>
                <a:sym typeface="Noto Sans"/>
              </a:rPr>
              <a:t>  pm.expect(jsonData.success).to.eql(true);</a:t>
            </a:r>
            <a:endParaRPr i="0" sz="1050" u="none" cap="none" strike="noStrike">
              <a:solidFill>
                <a:schemeClr val="dk1"/>
              </a:solidFill>
              <a:latin typeface="Noto Sans"/>
              <a:ea typeface="Noto Sans"/>
              <a:cs typeface="Noto Sans"/>
              <a:sym typeface="Noto Sans"/>
            </a:endParaRPr>
          </a:p>
          <a:p>
            <a:pPr indent="0" lvl="0" marL="0" marR="0" rtl="0" algn="l">
              <a:lnSpc>
                <a:spcPct val="133000"/>
              </a:lnSpc>
              <a:spcBef>
                <a:spcPts val="0"/>
              </a:spcBef>
              <a:spcAft>
                <a:spcPts val="0"/>
              </a:spcAft>
              <a:buClr>
                <a:srgbClr val="E6EDF3"/>
              </a:buClr>
              <a:buSzPts val="1050"/>
              <a:buFont typeface="Consolas"/>
              <a:buNone/>
            </a:pPr>
            <a:r>
              <a:rPr i="0" lang="en-US" sz="1050" u="none" cap="none" strike="noStrike">
                <a:solidFill>
                  <a:srgbClr val="E6EDF3"/>
                </a:solidFill>
                <a:latin typeface="Noto Sans"/>
                <a:ea typeface="Noto Sans"/>
                <a:cs typeface="Noto Sans"/>
                <a:sym typeface="Noto Sans"/>
              </a:rPr>
              <a:t>});</a:t>
            </a:r>
            <a:endParaRPr i="0" sz="1050" u="none" cap="none" strike="noStrike">
              <a:solidFill>
                <a:schemeClr val="dk1"/>
              </a:solidFill>
              <a:latin typeface="Noto Sans"/>
              <a:ea typeface="Noto Sans"/>
              <a:cs typeface="Noto Sans"/>
              <a:sym typeface="Noto Sans"/>
            </a:endParaRPr>
          </a:p>
        </p:txBody>
      </p:sp>
      <p:sp>
        <p:nvSpPr>
          <p:cNvPr id="251" name="Google Shape;251;p22"/>
          <p:cNvSpPr/>
          <p:nvPr/>
        </p:nvSpPr>
        <p:spPr>
          <a:xfrm>
            <a:off x="419100" y="4630263"/>
            <a:ext cx="8305800" cy="14400"/>
          </a:xfrm>
          <a:prstGeom prst="roundRect">
            <a:avLst>
              <a:gd fmla="val 49998" name="adj"/>
            </a:avLst>
          </a:prstGeom>
          <a:solidFill>
            <a:srgbClr val="6A65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52" name="Google Shape;252;p22"/>
          <p:cNvSpPr/>
          <p:nvPr/>
        </p:nvSpPr>
        <p:spPr>
          <a:xfrm>
            <a:off x="4747925" y="2942920"/>
            <a:ext cx="4095600" cy="3417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E85A3C"/>
              </a:buClr>
              <a:buSzPts val="800"/>
              <a:buFont typeface="Red Hat Text"/>
              <a:buNone/>
            </a:pPr>
            <a:r>
              <a:rPr b="1" i="0" lang="en-US" sz="1100" u="none" cap="none" strike="noStrike">
                <a:solidFill>
                  <a:srgbClr val="E85A3C"/>
                </a:solidFill>
                <a:latin typeface="Noto Sans"/>
                <a:ea typeface="Noto Sans"/>
                <a:cs typeface="Noto Sans"/>
                <a:sym typeface="Noto Sans"/>
              </a:rPr>
              <a:t>Tỷ lệ thành công: 100% Pass không phát sinh lỗi nghẽn.</a:t>
            </a:r>
            <a:endParaRPr i="0" sz="1100" u="none" cap="none" strike="noStrike">
              <a:solidFill>
                <a:schemeClr val="dk1"/>
              </a:solidFill>
              <a:latin typeface="Noto Sans"/>
              <a:ea typeface="Noto Sans"/>
              <a:cs typeface="Noto Sans"/>
              <a:sym typeface="Noto Sans"/>
            </a:endParaRPr>
          </a:p>
        </p:txBody>
      </p:sp>
      <p:sp>
        <p:nvSpPr>
          <p:cNvPr id="253" name="Google Shape;253;p22"/>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3"/>
          <p:cNvSpPr/>
          <p:nvPr/>
        </p:nvSpPr>
        <p:spPr>
          <a:xfrm>
            <a:off x="419100" y="419100"/>
            <a:ext cx="87249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Red Hat Text SemiBold"/>
              <a:buNone/>
            </a:pPr>
            <a:r>
              <a:rPr i="0" lang="en-US" sz="900" u="none" cap="none" strike="noStrike">
                <a:solidFill>
                  <a:srgbClr val="A39C8E"/>
                </a:solidFill>
                <a:latin typeface="Noto Sans SemiBold"/>
                <a:ea typeface="Noto Sans SemiBold"/>
                <a:cs typeface="Noto Sans SemiBold"/>
                <a:sym typeface="Noto Sans SemiBold"/>
              </a:rPr>
              <a:t>PHẦN V: KIỂM THỬ HIỆU NĂNG CHỊU TẢI (PERFORMANCE TESTING)</a:t>
            </a:r>
            <a:endParaRPr i="0" sz="900" u="none" cap="none" strike="noStrike">
              <a:solidFill>
                <a:schemeClr val="dk1"/>
              </a:solidFill>
              <a:latin typeface="Noto Sans"/>
              <a:ea typeface="Noto Sans"/>
              <a:cs typeface="Noto Sans"/>
              <a:sym typeface="Noto Sans"/>
            </a:endParaRPr>
          </a:p>
        </p:txBody>
      </p:sp>
      <p:sp>
        <p:nvSpPr>
          <p:cNvPr id="260" name="Google Shape;260;p23"/>
          <p:cNvSpPr/>
          <p:nvPr/>
        </p:nvSpPr>
        <p:spPr>
          <a:xfrm>
            <a:off x="419100" y="668164"/>
            <a:ext cx="8305800" cy="3240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500"/>
              <a:buFont typeface="League Spartan"/>
              <a:buNone/>
            </a:pPr>
            <a:r>
              <a:rPr b="1" i="0" lang="en-US" sz="2500" u="none" cap="none" strike="noStrike">
                <a:solidFill>
                  <a:srgbClr val="EFE8D8"/>
                </a:solidFill>
                <a:latin typeface="League Spartan"/>
                <a:ea typeface="League Spartan"/>
                <a:cs typeface="League Spartan"/>
                <a:sym typeface="League Spartan"/>
              </a:rPr>
              <a:t>ĐÁNH GIÁ CHỊU TẢI ĐỒNG THỜI BẰNG GRAFANA K6</a:t>
            </a:r>
            <a:endParaRPr i="0" sz="2500" u="none" cap="none" strike="noStrike">
              <a:solidFill>
                <a:schemeClr val="dk1"/>
              </a:solidFill>
              <a:latin typeface="League Spartan"/>
              <a:ea typeface="League Spartan"/>
              <a:cs typeface="League Spartan"/>
              <a:sym typeface="League Spartan"/>
            </a:endParaRPr>
          </a:p>
        </p:txBody>
      </p:sp>
      <p:sp>
        <p:nvSpPr>
          <p:cNvPr id="261" name="Google Shape;261;p23"/>
          <p:cNvSpPr/>
          <p:nvPr/>
        </p:nvSpPr>
        <p:spPr>
          <a:xfrm>
            <a:off x="419100" y="1149400"/>
            <a:ext cx="3417000" cy="35178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62" name="Google Shape;262;p23"/>
          <p:cNvSpPr/>
          <p:nvPr/>
        </p:nvSpPr>
        <p:spPr>
          <a:xfrm>
            <a:off x="520187" y="1263700"/>
            <a:ext cx="1995300" cy="237600"/>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63" name="Google Shape;263;p23"/>
          <p:cNvSpPr/>
          <p:nvPr/>
        </p:nvSpPr>
        <p:spPr>
          <a:xfrm>
            <a:off x="601004" y="1309390"/>
            <a:ext cx="2238000" cy="14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Red Hat Text SemiBold"/>
              <a:buNone/>
            </a:pPr>
            <a:r>
              <a:rPr i="0" lang="en-US" sz="950" u="none" cap="none" strike="noStrike">
                <a:solidFill>
                  <a:srgbClr val="D9D3C6"/>
                </a:solidFill>
                <a:latin typeface="Noto Sans SemiBold"/>
                <a:ea typeface="Noto Sans SemiBold"/>
                <a:cs typeface="Noto Sans SemiBold"/>
                <a:sym typeface="Noto Sans SemiBold"/>
              </a:rPr>
              <a:t>K6 BENCHMARK PARAMETERS</a:t>
            </a:r>
            <a:endParaRPr i="0" sz="950" u="none" cap="none" strike="noStrike">
              <a:solidFill>
                <a:schemeClr val="dk1"/>
              </a:solidFill>
              <a:latin typeface="Noto Sans"/>
              <a:ea typeface="Noto Sans"/>
              <a:cs typeface="Noto Sans"/>
              <a:sym typeface="Noto Sans"/>
            </a:endParaRPr>
          </a:p>
        </p:txBody>
      </p:sp>
      <p:sp>
        <p:nvSpPr>
          <p:cNvPr id="264" name="Google Shape;264;p23"/>
          <p:cNvSpPr/>
          <p:nvPr/>
        </p:nvSpPr>
        <p:spPr>
          <a:xfrm>
            <a:off x="520187" y="1563216"/>
            <a:ext cx="3214500" cy="247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Red Hat Text"/>
              <a:buNone/>
            </a:pPr>
            <a:r>
              <a:rPr i="0" lang="en-US" sz="1500" u="none" cap="none" strike="noStrike">
                <a:solidFill>
                  <a:srgbClr val="D9D3C6"/>
                </a:solidFill>
                <a:latin typeface="Noto Sans"/>
                <a:ea typeface="Noto Sans"/>
                <a:cs typeface="Noto Sans"/>
                <a:sym typeface="Noto Sans"/>
              </a:rPr>
              <a:t>Kịch bản Test 10 Virtual Users (VUs)</a:t>
            </a:r>
            <a:endParaRPr i="0" sz="1500" u="none" cap="none" strike="noStrike">
              <a:solidFill>
                <a:schemeClr val="dk1"/>
              </a:solidFill>
              <a:latin typeface="Noto Sans"/>
              <a:ea typeface="Noto Sans"/>
              <a:cs typeface="Noto Sans"/>
              <a:sym typeface="Noto Sans"/>
            </a:endParaRPr>
          </a:p>
        </p:txBody>
      </p:sp>
      <p:sp>
        <p:nvSpPr>
          <p:cNvPr id="265" name="Google Shape;265;p23"/>
          <p:cNvSpPr/>
          <p:nvPr/>
        </p:nvSpPr>
        <p:spPr>
          <a:xfrm>
            <a:off x="520187" y="1920404"/>
            <a:ext cx="3315900" cy="154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50"/>
              <a:buFont typeface="Red Hat Text"/>
              <a:buNone/>
            </a:pPr>
            <a:r>
              <a:rPr i="0" lang="en-US" sz="950" u="none" cap="none" strike="noStrike">
                <a:solidFill>
                  <a:srgbClr val="D9D3C6"/>
                </a:solidFill>
                <a:latin typeface="Noto Sans"/>
                <a:ea typeface="Noto Sans"/>
                <a:cs typeface="Noto Sans"/>
                <a:sym typeface="Noto Sans"/>
              </a:rPr>
              <a:t>k6-bid-concurrency.js</a:t>
            </a:r>
            <a:endParaRPr i="0" sz="950" u="none" cap="none" strike="noStrike">
              <a:solidFill>
                <a:schemeClr val="dk1"/>
              </a:solidFill>
              <a:latin typeface="Noto Sans"/>
              <a:ea typeface="Noto Sans"/>
              <a:cs typeface="Noto Sans"/>
              <a:sym typeface="Noto Sans"/>
            </a:endParaRPr>
          </a:p>
        </p:txBody>
      </p:sp>
      <p:sp>
        <p:nvSpPr>
          <p:cNvPr id="266" name="Google Shape;266;p23"/>
          <p:cNvSpPr/>
          <p:nvPr/>
        </p:nvSpPr>
        <p:spPr>
          <a:xfrm>
            <a:off x="520175" y="2291225"/>
            <a:ext cx="3214500" cy="10995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i="0" lang="en-US" sz="1200" u="none" cap="none" strike="noStrike">
                <a:solidFill>
                  <a:srgbClr val="D9D3C6"/>
                </a:solidFill>
                <a:latin typeface="Noto Sans"/>
                <a:ea typeface="Noto Sans"/>
                <a:cs typeface="Noto Sans"/>
                <a:sym typeface="Noto Sans"/>
              </a:rPr>
              <a:t>Kịch bản k6 () giả lập 10 Virtual Users truy cập đồng thời bắn liên tục request Đặt giá vào phiên đấu giá xe VinFast VF3 ở những giây chốt phiên cuối cùng trong thời gian 5.6 giây.</a:t>
            </a:r>
            <a:endParaRPr i="0" sz="1200" u="none" cap="none" strike="noStrike">
              <a:solidFill>
                <a:schemeClr val="dk1"/>
              </a:solidFill>
              <a:latin typeface="Noto Sans"/>
              <a:ea typeface="Noto Sans"/>
              <a:cs typeface="Noto Sans"/>
              <a:sym typeface="Noto Sans"/>
            </a:endParaRPr>
          </a:p>
        </p:txBody>
      </p:sp>
      <p:sp>
        <p:nvSpPr>
          <p:cNvPr id="267" name="Google Shape;267;p23"/>
          <p:cNvSpPr/>
          <p:nvPr/>
        </p:nvSpPr>
        <p:spPr>
          <a:xfrm>
            <a:off x="520175" y="3568570"/>
            <a:ext cx="3214500" cy="873600"/>
          </a:xfrm>
          <a:prstGeom prst="rect">
            <a:avLst/>
          </a:prstGeom>
          <a:noFill/>
          <a:ln>
            <a:noFill/>
          </a:ln>
        </p:spPr>
        <p:txBody>
          <a:bodyPr anchorCtr="0" anchor="t" bIns="0" lIns="0" spcFirstLastPara="1" rIns="0" wrap="square" tIns="0">
            <a:noAutofit/>
          </a:bodyPr>
          <a:lstStyle/>
          <a:p>
            <a:pPr indent="-243840" lvl="0" marL="243840" marR="0" rtl="0" algn="l">
              <a:lnSpc>
                <a:spcPct val="117000"/>
              </a:lnSpc>
              <a:spcBef>
                <a:spcPts val="0"/>
              </a:spcBef>
              <a:spcAft>
                <a:spcPts val="0"/>
              </a:spcAft>
              <a:buClr>
                <a:srgbClr val="D9D3C6"/>
              </a:buClr>
              <a:buSzPts val="1200"/>
              <a:buFont typeface="Red Hat Text"/>
              <a:buChar char="•"/>
            </a:pPr>
            <a:r>
              <a:rPr b="1" i="0" lang="en-US" sz="1200" u="none" cap="none" strike="noStrike">
                <a:solidFill>
                  <a:srgbClr val="D9D3C6"/>
                </a:solidFill>
                <a:latin typeface="Noto Sans"/>
                <a:ea typeface="Noto Sans"/>
                <a:cs typeface="Noto Sans"/>
                <a:sym typeface="Noto Sans"/>
              </a:rPr>
              <a:t>Tổng Request thực thi:</a:t>
            </a:r>
            <a:r>
              <a:rPr i="0" lang="en-US" sz="1200" u="none" cap="none" strike="noStrike">
                <a:solidFill>
                  <a:srgbClr val="D9D3C6"/>
                </a:solidFill>
                <a:latin typeface="Noto Sans"/>
                <a:ea typeface="Noto Sans"/>
                <a:cs typeface="Noto Sans"/>
                <a:sym typeface="Noto Sans"/>
              </a:rPr>
              <a:t> 90 requests (~16 req/sec)</a:t>
            </a:r>
            <a:endParaRPr i="0" sz="1200" u="none" cap="none" strike="noStrike">
              <a:solidFill>
                <a:schemeClr val="dk1"/>
              </a:solidFill>
              <a:latin typeface="Noto Sans"/>
              <a:ea typeface="Noto Sans"/>
              <a:cs typeface="Noto Sans"/>
              <a:sym typeface="Noto Sans"/>
            </a:endParaRPr>
          </a:p>
          <a:p>
            <a:pPr indent="-243840" lvl="0" marL="243840" marR="0" rtl="0" algn="l">
              <a:lnSpc>
                <a:spcPct val="117000"/>
              </a:lnSpc>
              <a:spcBef>
                <a:spcPts val="0"/>
              </a:spcBef>
              <a:spcAft>
                <a:spcPts val="0"/>
              </a:spcAft>
              <a:buClr>
                <a:srgbClr val="D9D3C6"/>
              </a:buClr>
              <a:buSzPts val="1200"/>
              <a:buFont typeface="Red Hat Text"/>
              <a:buChar char="•"/>
            </a:pPr>
            <a:r>
              <a:rPr b="1" i="0" lang="en-US" sz="1200" u="none" cap="none" strike="noStrike">
                <a:solidFill>
                  <a:srgbClr val="D9D3C6"/>
                </a:solidFill>
                <a:latin typeface="Noto Sans"/>
                <a:ea typeface="Noto Sans"/>
                <a:cs typeface="Noto Sans"/>
                <a:sym typeface="Noto Sans"/>
              </a:rPr>
              <a:t>Error Rate (Tỷ lệ lỗi):</a:t>
            </a:r>
            <a:r>
              <a:rPr i="0" lang="en-US" sz="1200" u="none" cap="none" strike="noStrike">
                <a:solidFill>
                  <a:srgbClr val="D9D3C6"/>
                </a:solidFill>
                <a:latin typeface="Noto Sans"/>
                <a:ea typeface="Noto Sans"/>
                <a:cs typeface="Noto Sans"/>
                <a:sym typeface="Noto Sans"/>
              </a:rPr>
              <a:t> 0.00%</a:t>
            </a:r>
            <a:endParaRPr i="0" sz="1200" u="none" cap="none" strike="noStrike">
              <a:solidFill>
                <a:schemeClr val="dk1"/>
              </a:solidFill>
              <a:latin typeface="Noto Sans"/>
              <a:ea typeface="Noto Sans"/>
              <a:cs typeface="Noto Sans"/>
              <a:sym typeface="Noto Sans"/>
            </a:endParaRPr>
          </a:p>
        </p:txBody>
      </p:sp>
      <p:sp>
        <p:nvSpPr>
          <p:cNvPr id="268" name="Google Shape;268;p23"/>
          <p:cNvSpPr/>
          <p:nvPr/>
        </p:nvSpPr>
        <p:spPr>
          <a:xfrm>
            <a:off x="3979325" y="1149400"/>
            <a:ext cx="4745700" cy="35178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69" name="Google Shape;269;p23"/>
          <p:cNvSpPr/>
          <p:nvPr/>
        </p:nvSpPr>
        <p:spPr>
          <a:xfrm>
            <a:off x="4086694" y="1263700"/>
            <a:ext cx="2189100" cy="237600"/>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70" name="Google Shape;270;p23"/>
          <p:cNvSpPr/>
          <p:nvPr/>
        </p:nvSpPr>
        <p:spPr>
          <a:xfrm>
            <a:off x="4172534" y="1309390"/>
            <a:ext cx="2446800" cy="14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Red Hat Text SemiBold"/>
              <a:buNone/>
            </a:pPr>
            <a:r>
              <a:rPr i="0" lang="en-US" sz="950" u="none" cap="none" strike="noStrike">
                <a:solidFill>
                  <a:srgbClr val="D9D3C6"/>
                </a:solidFill>
                <a:latin typeface="Noto Sans SemiBold"/>
                <a:ea typeface="Noto Sans SemiBold"/>
                <a:cs typeface="Noto Sans SemiBold"/>
                <a:sym typeface="Noto Sans SemiBold"/>
              </a:rPr>
              <a:t>LATENCY BOUNDS SLA RESULT</a:t>
            </a:r>
            <a:endParaRPr i="0" sz="950" u="none" cap="none" strike="noStrike">
              <a:solidFill>
                <a:schemeClr val="dk1"/>
              </a:solidFill>
              <a:latin typeface="Noto Sans"/>
              <a:ea typeface="Noto Sans"/>
              <a:cs typeface="Noto Sans"/>
              <a:sym typeface="Noto Sans"/>
            </a:endParaRPr>
          </a:p>
        </p:txBody>
      </p:sp>
      <p:sp>
        <p:nvSpPr>
          <p:cNvPr id="271" name="Google Shape;271;p23"/>
          <p:cNvSpPr/>
          <p:nvPr/>
        </p:nvSpPr>
        <p:spPr>
          <a:xfrm>
            <a:off x="4172524" y="1772827"/>
            <a:ext cx="1922700" cy="639900"/>
          </a:xfrm>
          <a:prstGeom prst="rect">
            <a:avLst/>
          </a:prstGeom>
          <a:noFill/>
          <a:ln>
            <a:noFill/>
          </a:ln>
        </p:spPr>
        <p:txBody>
          <a:bodyPr anchorCtr="0" anchor="t" bIns="0" lIns="0" spcFirstLastPara="1" rIns="0" wrap="square" tIns="0">
            <a:noAutofit/>
          </a:bodyPr>
          <a:lstStyle/>
          <a:p>
            <a:pPr indent="0" lvl="0" marL="0" marR="0" rtl="0" algn="l">
              <a:lnSpc>
                <a:spcPct val="79000"/>
              </a:lnSpc>
              <a:spcBef>
                <a:spcPts val="0"/>
              </a:spcBef>
              <a:spcAft>
                <a:spcPts val="0"/>
              </a:spcAft>
              <a:buClr>
                <a:srgbClr val="EFE8D8"/>
              </a:buClr>
              <a:buSzPts val="6350"/>
              <a:buFont typeface="League Spartan"/>
              <a:buNone/>
            </a:pPr>
            <a:r>
              <a:rPr b="1" i="0" lang="en-US" sz="4600" u="none" cap="none" strike="noStrike">
                <a:solidFill>
                  <a:srgbClr val="EFE8D8"/>
                </a:solidFill>
                <a:latin typeface="Noto Sans"/>
                <a:ea typeface="Noto Sans"/>
                <a:cs typeface="Noto Sans"/>
                <a:sym typeface="Noto Sans"/>
              </a:rPr>
              <a:t>88.4</a:t>
            </a:r>
            <a:r>
              <a:rPr b="1" i="0" lang="en-US" sz="1800" u="none" cap="none" strike="noStrike">
                <a:solidFill>
                  <a:srgbClr val="EFE8D8"/>
                </a:solidFill>
                <a:latin typeface="Noto Sans"/>
                <a:ea typeface="Noto Sans"/>
                <a:cs typeface="Noto Sans"/>
                <a:sym typeface="Noto Sans"/>
              </a:rPr>
              <a:t> ms</a:t>
            </a:r>
            <a:endParaRPr i="0" sz="1800" u="none" cap="none" strike="noStrike">
              <a:solidFill>
                <a:schemeClr val="dk1"/>
              </a:solidFill>
              <a:latin typeface="Noto Sans"/>
              <a:ea typeface="Noto Sans"/>
              <a:cs typeface="Noto Sans"/>
              <a:sym typeface="Noto Sans"/>
            </a:endParaRPr>
          </a:p>
        </p:txBody>
      </p:sp>
      <p:sp>
        <p:nvSpPr>
          <p:cNvPr id="272" name="Google Shape;272;p23"/>
          <p:cNvSpPr/>
          <p:nvPr/>
        </p:nvSpPr>
        <p:spPr>
          <a:xfrm>
            <a:off x="4172525" y="2412725"/>
            <a:ext cx="1808100" cy="126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50"/>
              <a:buFont typeface="Red Hat Text"/>
              <a:buNone/>
            </a:pPr>
            <a:r>
              <a:rPr i="0" lang="en-US" sz="1500" u="none" cap="none" strike="noStrike">
                <a:solidFill>
                  <a:srgbClr val="D9D3C6"/>
                </a:solidFill>
                <a:latin typeface="Noto Sans"/>
                <a:ea typeface="Noto Sans"/>
                <a:cs typeface="Noto Sans"/>
                <a:sym typeface="Noto Sans"/>
              </a:rPr>
              <a:t>Latency Trung bình</a:t>
            </a:r>
            <a:endParaRPr i="0" sz="1500" u="none" cap="none" strike="noStrike">
              <a:solidFill>
                <a:schemeClr val="dk1"/>
              </a:solidFill>
              <a:latin typeface="Noto Sans"/>
              <a:ea typeface="Noto Sans"/>
              <a:cs typeface="Noto Sans"/>
              <a:sym typeface="Noto Sans"/>
            </a:endParaRPr>
          </a:p>
        </p:txBody>
      </p:sp>
      <p:sp>
        <p:nvSpPr>
          <p:cNvPr id="273" name="Google Shape;273;p23"/>
          <p:cNvSpPr/>
          <p:nvPr/>
        </p:nvSpPr>
        <p:spPr>
          <a:xfrm>
            <a:off x="6244900" y="1773825"/>
            <a:ext cx="2373000" cy="1592400"/>
          </a:xfrm>
          <a:prstGeom prst="rect">
            <a:avLst/>
          </a:prstGeom>
          <a:noFill/>
          <a:ln>
            <a:noFill/>
          </a:ln>
        </p:spPr>
        <p:txBody>
          <a:bodyPr anchorCtr="0" anchor="t" bIns="0" lIns="0" spcFirstLastPara="1" rIns="0" wrap="square" tIns="0">
            <a:noAutofit/>
          </a:bodyPr>
          <a:lstStyle/>
          <a:p>
            <a:pPr indent="0" lvl="0" marL="0" marR="0" rtl="0" algn="l">
              <a:lnSpc>
                <a:spcPct val="79000"/>
              </a:lnSpc>
              <a:spcBef>
                <a:spcPts val="0"/>
              </a:spcBef>
              <a:spcAft>
                <a:spcPts val="0"/>
              </a:spcAft>
              <a:buClr>
                <a:srgbClr val="E85A3C"/>
              </a:buClr>
              <a:buSzPts val="6300"/>
              <a:buFont typeface="League Spartan"/>
              <a:buNone/>
            </a:pPr>
            <a:r>
              <a:rPr b="1" i="0" lang="en-US" sz="4600" u="none" cap="none" strike="noStrike">
                <a:solidFill>
                  <a:srgbClr val="E85A3C"/>
                </a:solidFill>
                <a:latin typeface="Noto Sans"/>
                <a:ea typeface="Noto Sans"/>
                <a:cs typeface="Noto Sans"/>
                <a:sym typeface="Noto Sans"/>
              </a:rPr>
              <a:t>108.17</a:t>
            </a:r>
            <a:r>
              <a:rPr b="1" i="0" lang="en-US" sz="1800" u="none" cap="none" strike="noStrike">
                <a:solidFill>
                  <a:srgbClr val="EFE8D8"/>
                </a:solidFill>
                <a:latin typeface="Noto Sans"/>
                <a:ea typeface="Noto Sans"/>
                <a:cs typeface="Noto Sans"/>
                <a:sym typeface="Noto Sans"/>
              </a:rPr>
              <a:t> ms</a:t>
            </a:r>
            <a:endParaRPr i="0" sz="1800" u="none" cap="none" strike="noStrike">
              <a:solidFill>
                <a:schemeClr val="dk1"/>
              </a:solidFill>
              <a:latin typeface="Noto Sans"/>
              <a:ea typeface="Noto Sans"/>
              <a:cs typeface="Noto Sans"/>
              <a:sym typeface="Noto Sans"/>
            </a:endParaRPr>
          </a:p>
        </p:txBody>
      </p:sp>
      <p:sp>
        <p:nvSpPr>
          <p:cNvPr id="274" name="Google Shape;274;p23"/>
          <p:cNvSpPr/>
          <p:nvPr/>
        </p:nvSpPr>
        <p:spPr>
          <a:xfrm>
            <a:off x="6619325" y="2413725"/>
            <a:ext cx="1534800" cy="126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50"/>
              <a:buFont typeface="Red Hat Text"/>
              <a:buNone/>
            </a:pPr>
            <a:r>
              <a:rPr i="0" lang="en-US" sz="1500" u="none" cap="none" strike="noStrike">
                <a:solidFill>
                  <a:srgbClr val="D9D3C6"/>
                </a:solidFill>
                <a:latin typeface="Noto Sans"/>
                <a:ea typeface="Noto Sans"/>
                <a:cs typeface="Noto Sans"/>
                <a:sym typeface="Noto Sans"/>
              </a:rPr>
              <a:t>Bách phân vị p95</a:t>
            </a:r>
            <a:endParaRPr i="0" sz="1500" u="none" cap="none" strike="noStrike">
              <a:solidFill>
                <a:schemeClr val="dk1"/>
              </a:solidFill>
              <a:latin typeface="Noto Sans"/>
              <a:ea typeface="Noto Sans"/>
              <a:cs typeface="Noto Sans"/>
              <a:sym typeface="Noto Sans"/>
            </a:endParaRPr>
          </a:p>
        </p:txBody>
      </p:sp>
      <p:sp>
        <p:nvSpPr>
          <p:cNvPr id="275" name="Google Shape;275;p23"/>
          <p:cNvSpPr/>
          <p:nvPr/>
        </p:nvSpPr>
        <p:spPr>
          <a:xfrm>
            <a:off x="4086694" y="3107955"/>
            <a:ext cx="4530900" cy="23700"/>
          </a:xfrm>
          <a:prstGeom prst="roundRect">
            <a:avLst>
              <a:gd fmla="val 50000" name="adj"/>
            </a:avLst>
          </a:prstGeom>
          <a:solidFill>
            <a:srgbClr val="6A65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76" name="Google Shape;276;p23"/>
          <p:cNvSpPr/>
          <p:nvPr/>
        </p:nvSpPr>
        <p:spPr>
          <a:xfrm>
            <a:off x="4086694" y="3526740"/>
            <a:ext cx="4530900" cy="639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b="1" i="0" lang="en-US" sz="1200" u="none" cap="none" strike="noStrike">
                <a:solidFill>
                  <a:srgbClr val="D9D3C6"/>
                </a:solidFill>
                <a:latin typeface="Noto Sans"/>
                <a:ea typeface="Noto Sans"/>
                <a:cs typeface="Noto Sans"/>
                <a:sym typeface="Noto Sans"/>
              </a:rPr>
              <a:t>Chỉ số bách phân vị p95 = 108.17ms vượt xa ngưỡng mục tiêu cam kết chất lượng SLA (p95 &lt; 1000ms), khẳng định hệ thống duy trì độ trễ cực thấp kể cả khi bị ép tải.</a:t>
            </a:r>
            <a:endParaRPr i="0" sz="1200" u="none" cap="none" strike="noStrike">
              <a:solidFill>
                <a:schemeClr val="dk1"/>
              </a:solidFill>
              <a:latin typeface="Noto Sans"/>
              <a:ea typeface="Noto Sans"/>
              <a:cs typeface="Noto Sans"/>
              <a:sym typeface="Noto Sans"/>
            </a:endParaRPr>
          </a:p>
        </p:txBody>
      </p:sp>
      <p:sp>
        <p:nvSpPr>
          <p:cNvPr id="277" name="Google Shape;277;p23"/>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4"/>
          <p:cNvSpPr/>
          <p:nvPr/>
        </p:nvSpPr>
        <p:spPr>
          <a:xfrm>
            <a:off x="419100" y="419100"/>
            <a:ext cx="87249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Red Hat Text SemiBold"/>
              <a:buNone/>
            </a:pPr>
            <a:r>
              <a:rPr i="0" lang="en-US" sz="900" u="none" cap="none" strike="noStrike">
                <a:solidFill>
                  <a:srgbClr val="A39C8E"/>
                </a:solidFill>
                <a:latin typeface="Noto Sans SemiBold"/>
                <a:ea typeface="Noto Sans SemiBold"/>
                <a:cs typeface="Noto Sans SemiBold"/>
                <a:sym typeface="Noto Sans SemiBold"/>
              </a:rPr>
              <a:t>PHẦN V: KIỂM THỬ HIỆU NĂNG (TIẾP THEO)</a:t>
            </a:r>
            <a:endParaRPr i="0" sz="900" u="none" cap="none" strike="noStrike">
              <a:solidFill>
                <a:schemeClr val="dk1"/>
              </a:solidFill>
              <a:latin typeface="Noto Sans"/>
              <a:ea typeface="Noto Sans"/>
              <a:cs typeface="Noto Sans"/>
              <a:sym typeface="Noto Sans"/>
            </a:endParaRPr>
          </a:p>
        </p:txBody>
      </p:sp>
      <p:sp>
        <p:nvSpPr>
          <p:cNvPr id="284" name="Google Shape;284;p24"/>
          <p:cNvSpPr/>
          <p:nvPr/>
        </p:nvSpPr>
        <p:spPr>
          <a:xfrm>
            <a:off x="419100" y="668164"/>
            <a:ext cx="8305800" cy="3240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2500"/>
              <a:buFont typeface="League Spartan"/>
              <a:buNone/>
            </a:pPr>
            <a:r>
              <a:rPr b="1" i="0" lang="en-US" sz="2500" u="none" cap="none" strike="noStrike">
                <a:solidFill>
                  <a:srgbClr val="EFE8D8"/>
                </a:solidFill>
                <a:latin typeface="League Spartan"/>
                <a:ea typeface="League Spartan"/>
                <a:cs typeface="League Spartan"/>
                <a:sym typeface="League Spartan"/>
              </a:rPr>
              <a:t>ĐÁNH GIÁ ĐỘ BỀN VÀ SỰ ỔN ĐỊNH VỚI APACHE JMETER</a:t>
            </a:r>
            <a:endParaRPr i="0" sz="2500" u="none" cap="none" strike="noStrike">
              <a:solidFill>
                <a:schemeClr val="dk1"/>
              </a:solidFill>
              <a:latin typeface="League Spartan"/>
              <a:ea typeface="League Spartan"/>
              <a:cs typeface="League Spartan"/>
              <a:sym typeface="League Spartan"/>
            </a:endParaRPr>
          </a:p>
        </p:txBody>
      </p:sp>
      <p:sp>
        <p:nvSpPr>
          <p:cNvPr id="285" name="Google Shape;285;p24"/>
          <p:cNvSpPr/>
          <p:nvPr/>
        </p:nvSpPr>
        <p:spPr>
          <a:xfrm>
            <a:off x="419100" y="1177800"/>
            <a:ext cx="3909000" cy="35760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86" name="Google Shape;286;p24"/>
          <p:cNvSpPr/>
          <p:nvPr/>
        </p:nvSpPr>
        <p:spPr>
          <a:xfrm>
            <a:off x="631167" y="1311150"/>
            <a:ext cx="2560800" cy="237600"/>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87" name="Google Shape;287;p24"/>
          <p:cNvSpPr/>
          <p:nvPr/>
        </p:nvSpPr>
        <p:spPr>
          <a:xfrm>
            <a:off x="715938" y="1356840"/>
            <a:ext cx="2815200" cy="14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Red Hat Text SemiBold"/>
              <a:buNone/>
            </a:pPr>
            <a:r>
              <a:rPr i="0" lang="en-US" sz="950" u="none" cap="none" strike="noStrike">
                <a:solidFill>
                  <a:srgbClr val="D9D3C6"/>
                </a:solidFill>
                <a:latin typeface="Noto Sans SemiBold"/>
                <a:ea typeface="Noto Sans SemiBold"/>
                <a:cs typeface="Noto Sans SemiBold"/>
                <a:sym typeface="Noto Sans SemiBold"/>
              </a:rPr>
              <a:t>JMETER TEST PLAN CONFIGURATION</a:t>
            </a:r>
            <a:endParaRPr i="0" sz="950" u="none" cap="none" strike="noStrike">
              <a:solidFill>
                <a:schemeClr val="dk1"/>
              </a:solidFill>
              <a:latin typeface="Noto Sans"/>
              <a:ea typeface="Noto Sans"/>
              <a:cs typeface="Noto Sans"/>
              <a:sym typeface="Noto Sans"/>
            </a:endParaRPr>
          </a:p>
        </p:txBody>
      </p:sp>
      <p:sp>
        <p:nvSpPr>
          <p:cNvPr id="288" name="Google Shape;288;p24"/>
          <p:cNvSpPr/>
          <p:nvPr/>
        </p:nvSpPr>
        <p:spPr>
          <a:xfrm>
            <a:off x="631175" y="1740550"/>
            <a:ext cx="3484800" cy="2535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Red Hat Text"/>
              <a:buNone/>
            </a:pPr>
            <a:r>
              <a:rPr i="0" lang="en-US" sz="1500" u="none" cap="none" strike="noStrike">
                <a:solidFill>
                  <a:srgbClr val="D9D3C6"/>
                </a:solidFill>
                <a:latin typeface="Noto Sans"/>
                <a:ea typeface="Noto Sans"/>
                <a:cs typeface="Noto Sans"/>
                <a:sym typeface="Noto Sans"/>
              </a:rPr>
              <a:t>Thread Group 20-50 Concurrent Users</a:t>
            </a:r>
            <a:endParaRPr i="0" sz="1500" u="none" cap="none" strike="noStrike">
              <a:solidFill>
                <a:schemeClr val="dk1"/>
              </a:solidFill>
              <a:latin typeface="Noto Sans"/>
              <a:ea typeface="Noto Sans"/>
              <a:cs typeface="Noto Sans"/>
              <a:sym typeface="Noto Sans"/>
            </a:endParaRPr>
          </a:p>
        </p:txBody>
      </p:sp>
      <p:sp>
        <p:nvSpPr>
          <p:cNvPr id="289" name="Google Shape;289;p24"/>
          <p:cNvSpPr/>
          <p:nvPr/>
        </p:nvSpPr>
        <p:spPr>
          <a:xfrm>
            <a:off x="631175" y="2106215"/>
            <a:ext cx="3696900" cy="1584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50"/>
              <a:buFont typeface="Red Hat Text"/>
              <a:buNone/>
            </a:pPr>
            <a:r>
              <a:rPr i="0" lang="en-US" sz="950" u="none" cap="none" strike="noStrike">
                <a:solidFill>
                  <a:srgbClr val="D9D3C6"/>
                </a:solidFill>
                <a:latin typeface="Noto Sans"/>
                <a:ea typeface="Noto Sans"/>
                <a:cs typeface="Noto Sans"/>
                <a:sym typeface="Noto Sans"/>
              </a:rPr>
              <a:t>AuctionHouse_LoadTest.jmx</a:t>
            </a:r>
            <a:endParaRPr i="0" sz="950" u="none" cap="none" strike="noStrike">
              <a:solidFill>
                <a:schemeClr val="dk1"/>
              </a:solidFill>
              <a:latin typeface="Noto Sans"/>
              <a:ea typeface="Noto Sans"/>
              <a:cs typeface="Noto Sans"/>
              <a:sym typeface="Noto Sans"/>
            </a:endParaRPr>
          </a:p>
        </p:txBody>
      </p:sp>
      <p:sp>
        <p:nvSpPr>
          <p:cNvPr id="290" name="Google Shape;290;p24"/>
          <p:cNvSpPr/>
          <p:nvPr/>
        </p:nvSpPr>
        <p:spPr>
          <a:xfrm>
            <a:off x="631175" y="2376810"/>
            <a:ext cx="3484800" cy="8739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i="0" lang="en-US" sz="1200" u="none" cap="none" strike="noStrike">
                <a:solidFill>
                  <a:srgbClr val="D9D3C6"/>
                </a:solidFill>
                <a:latin typeface="Noto Sans"/>
                <a:ea typeface="Noto Sans"/>
                <a:cs typeface="Noto Sans"/>
                <a:sym typeface="Noto Sans"/>
              </a:rPr>
              <a:t>Cấu hình kịch bản Apache JMeter () giả lập từ 20 đến 50 luồng người dùng đồng thời truy cập liên tục vào các endpoint đọc dữ liệu nặng như xem chi tiết phiên, danh sách lịch sử bid và trạng thái ví.</a:t>
            </a:r>
            <a:endParaRPr i="0" sz="1200" u="none" cap="none" strike="noStrike">
              <a:solidFill>
                <a:schemeClr val="dk1"/>
              </a:solidFill>
              <a:latin typeface="Noto Sans"/>
              <a:ea typeface="Noto Sans"/>
              <a:cs typeface="Noto Sans"/>
              <a:sym typeface="Noto Sans"/>
            </a:endParaRPr>
          </a:p>
        </p:txBody>
      </p:sp>
      <p:sp>
        <p:nvSpPr>
          <p:cNvPr id="291" name="Google Shape;291;p24"/>
          <p:cNvSpPr/>
          <p:nvPr/>
        </p:nvSpPr>
        <p:spPr>
          <a:xfrm>
            <a:off x="631175" y="3421084"/>
            <a:ext cx="3484800" cy="951900"/>
          </a:xfrm>
          <a:prstGeom prst="rect">
            <a:avLst/>
          </a:prstGeom>
          <a:noFill/>
          <a:ln>
            <a:noFill/>
          </a:ln>
        </p:spPr>
        <p:txBody>
          <a:bodyPr anchorCtr="0" anchor="t" bIns="0" lIns="0" spcFirstLastPara="1" rIns="0" wrap="square" tIns="0">
            <a:noAutofit/>
          </a:bodyPr>
          <a:lstStyle/>
          <a:p>
            <a:pPr indent="-243840" lvl="0" marL="243840" marR="0" rtl="0" algn="l">
              <a:lnSpc>
                <a:spcPct val="117000"/>
              </a:lnSpc>
              <a:spcBef>
                <a:spcPts val="0"/>
              </a:spcBef>
              <a:spcAft>
                <a:spcPts val="0"/>
              </a:spcAft>
              <a:buClr>
                <a:srgbClr val="D9D3C6"/>
              </a:buClr>
              <a:buSzPts val="1200"/>
              <a:buFont typeface="Noto Sans"/>
              <a:buChar char="•"/>
            </a:pPr>
            <a:r>
              <a:rPr i="0" lang="en-US" sz="1200" u="none" cap="none" strike="noStrike">
                <a:solidFill>
                  <a:srgbClr val="D9D3C6"/>
                </a:solidFill>
                <a:latin typeface="Noto Sans"/>
                <a:ea typeface="Noto Sans"/>
                <a:cs typeface="Noto Sans"/>
                <a:sym typeface="Noto Sans"/>
              </a:rPr>
              <a:t>Target URL: Staging Server trên Render Cloud Platform.</a:t>
            </a:r>
            <a:endParaRPr i="0" sz="1200" u="none" cap="none" strike="noStrike">
              <a:solidFill>
                <a:schemeClr val="dk1"/>
              </a:solidFill>
              <a:latin typeface="Noto Sans"/>
              <a:ea typeface="Noto Sans"/>
              <a:cs typeface="Noto Sans"/>
              <a:sym typeface="Noto Sans"/>
            </a:endParaRPr>
          </a:p>
          <a:p>
            <a:pPr indent="-243840" lvl="0" marL="243840" marR="0" rtl="0" algn="l">
              <a:lnSpc>
                <a:spcPct val="117000"/>
              </a:lnSpc>
              <a:spcBef>
                <a:spcPts val="0"/>
              </a:spcBef>
              <a:spcAft>
                <a:spcPts val="0"/>
              </a:spcAft>
              <a:buClr>
                <a:srgbClr val="D9D3C6"/>
              </a:buClr>
              <a:buSzPts val="1200"/>
              <a:buFont typeface="Noto Sans"/>
              <a:buChar char="•"/>
            </a:pPr>
            <a:r>
              <a:rPr i="0" lang="en-US" sz="1200" u="none" cap="none" strike="noStrike">
                <a:solidFill>
                  <a:srgbClr val="D9D3C6"/>
                </a:solidFill>
                <a:latin typeface="Noto Sans"/>
                <a:ea typeface="Noto Sans"/>
                <a:cs typeface="Noto Sans"/>
                <a:sym typeface="Noto Sans"/>
              </a:rPr>
              <a:t>HTTP Header Manager: Bearer JWT Authorization.</a:t>
            </a:r>
            <a:endParaRPr i="0" sz="1200" u="none" cap="none" strike="noStrike">
              <a:solidFill>
                <a:schemeClr val="dk1"/>
              </a:solidFill>
              <a:latin typeface="Noto Sans"/>
              <a:ea typeface="Noto Sans"/>
              <a:cs typeface="Noto Sans"/>
              <a:sym typeface="Noto Sans"/>
            </a:endParaRPr>
          </a:p>
          <a:p>
            <a:pPr indent="-243840" lvl="0" marL="243840" marR="0" rtl="0" algn="l">
              <a:lnSpc>
                <a:spcPct val="117000"/>
              </a:lnSpc>
              <a:spcBef>
                <a:spcPts val="0"/>
              </a:spcBef>
              <a:spcAft>
                <a:spcPts val="0"/>
              </a:spcAft>
              <a:buClr>
                <a:srgbClr val="D9D3C6"/>
              </a:buClr>
              <a:buSzPts val="1200"/>
              <a:buFont typeface="Noto Sans"/>
              <a:buChar char="•"/>
            </a:pPr>
            <a:r>
              <a:rPr i="0" lang="en-US" sz="1200" u="none" cap="none" strike="noStrike">
                <a:solidFill>
                  <a:srgbClr val="D9D3C6"/>
                </a:solidFill>
                <a:latin typeface="Noto Sans"/>
                <a:ea typeface="Noto Sans"/>
                <a:cs typeface="Noto Sans"/>
                <a:sym typeface="Noto Sans"/>
              </a:rPr>
              <a:t>Listeners: Summary Report &amp; View Results Tree.</a:t>
            </a:r>
            <a:endParaRPr i="0" sz="1200" u="none" cap="none" strike="noStrike">
              <a:solidFill>
                <a:schemeClr val="dk1"/>
              </a:solidFill>
              <a:latin typeface="Noto Sans"/>
              <a:ea typeface="Noto Sans"/>
              <a:cs typeface="Noto Sans"/>
              <a:sym typeface="Noto Sans"/>
            </a:endParaRPr>
          </a:p>
        </p:txBody>
      </p:sp>
      <p:sp>
        <p:nvSpPr>
          <p:cNvPr id="292" name="Google Shape;292;p24"/>
          <p:cNvSpPr/>
          <p:nvPr/>
        </p:nvSpPr>
        <p:spPr>
          <a:xfrm>
            <a:off x="4449374" y="1177775"/>
            <a:ext cx="4209600" cy="35760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93" name="Google Shape;293;p24"/>
          <p:cNvSpPr/>
          <p:nvPr/>
        </p:nvSpPr>
        <p:spPr>
          <a:xfrm>
            <a:off x="4649201" y="1330175"/>
            <a:ext cx="1876200" cy="237600"/>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94" name="Google Shape;294;p24"/>
          <p:cNvSpPr/>
          <p:nvPr/>
        </p:nvSpPr>
        <p:spPr>
          <a:xfrm>
            <a:off x="4729080" y="1375865"/>
            <a:ext cx="2116200" cy="14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Red Hat Text SemiBold"/>
              <a:buNone/>
            </a:pPr>
            <a:r>
              <a:rPr i="0" lang="en-US" sz="950" u="none" cap="none" strike="noStrike">
                <a:solidFill>
                  <a:srgbClr val="D9D3C6"/>
                </a:solidFill>
                <a:latin typeface="Noto Sans SemiBold"/>
                <a:ea typeface="Noto Sans SemiBold"/>
                <a:cs typeface="Noto Sans SemiBold"/>
                <a:sym typeface="Noto Sans SemiBold"/>
              </a:rPr>
              <a:t>SUMMARY REPORT METRICS</a:t>
            </a:r>
            <a:endParaRPr i="0" sz="950" u="none" cap="none" strike="noStrike">
              <a:solidFill>
                <a:schemeClr val="dk1"/>
              </a:solidFill>
              <a:latin typeface="Noto Sans"/>
              <a:ea typeface="Noto Sans"/>
              <a:cs typeface="Noto Sans"/>
              <a:sym typeface="Noto Sans"/>
            </a:endParaRPr>
          </a:p>
        </p:txBody>
      </p:sp>
      <p:sp>
        <p:nvSpPr>
          <p:cNvPr id="295" name="Google Shape;295;p24"/>
          <p:cNvSpPr/>
          <p:nvPr/>
        </p:nvSpPr>
        <p:spPr>
          <a:xfrm>
            <a:off x="4649201" y="1814238"/>
            <a:ext cx="3810000" cy="1086000"/>
          </a:xfrm>
          <a:prstGeom prst="rect">
            <a:avLst/>
          </a:prstGeom>
          <a:noFill/>
          <a:ln>
            <a:noFill/>
          </a:ln>
        </p:spPr>
        <p:txBody>
          <a:bodyPr anchorCtr="0" anchor="t" bIns="0" lIns="0" spcFirstLastPara="1" rIns="0" wrap="square" tIns="0">
            <a:noAutofit/>
          </a:bodyPr>
          <a:lstStyle/>
          <a:p>
            <a:pPr indent="0" lvl="0" marL="0" marR="0" rtl="0" algn="l">
              <a:lnSpc>
                <a:spcPct val="79000"/>
              </a:lnSpc>
              <a:spcBef>
                <a:spcPts val="0"/>
              </a:spcBef>
              <a:spcAft>
                <a:spcPts val="0"/>
              </a:spcAft>
              <a:buClr>
                <a:srgbClr val="E85A3C"/>
              </a:buClr>
              <a:buSzPts val="8700"/>
              <a:buFont typeface="League Spartan"/>
              <a:buNone/>
            </a:pPr>
            <a:r>
              <a:rPr b="1" i="0" lang="en-US" sz="8700" u="none" cap="none" strike="noStrike">
                <a:solidFill>
                  <a:srgbClr val="E85A3C"/>
                </a:solidFill>
                <a:latin typeface="Noto Sans"/>
                <a:ea typeface="Noto Sans"/>
                <a:cs typeface="Noto Sans"/>
                <a:sym typeface="Noto Sans"/>
              </a:rPr>
              <a:t>0.00%</a:t>
            </a:r>
            <a:endParaRPr i="0" sz="8700" u="none" cap="none" strike="noStrike">
              <a:solidFill>
                <a:schemeClr val="dk1"/>
              </a:solidFill>
              <a:latin typeface="Noto Sans"/>
              <a:ea typeface="Noto Sans"/>
              <a:cs typeface="Noto Sans"/>
              <a:sym typeface="Noto Sans"/>
            </a:endParaRPr>
          </a:p>
        </p:txBody>
      </p:sp>
      <p:sp>
        <p:nvSpPr>
          <p:cNvPr id="296" name="Google Shape;296;p24"/>
          <p:cNvSpPr/>
          <p:nvPr/>
        </p:nvSpPr>
        <p:spPr>
          <a:xfrm>
            <a:off x="4649201" y="2867941"/>
            <a:ext cx="4009800" cy="154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950"/>
              <a:buFont typeface="Red Hat Text"/>
              <a:buNone/>
            </a:pPr>
            <a:r>
              <a:rPr i="0" lang="en-US" sz="950" u="none" cap="none" strike="noStrike">
                <a:solidFill>
                  <a:srgbClr val="D9D3C6"/>
                </a:solidFill>
                <a:latin typeface="Noto Sans"/>
                <a:ea typeface="Noto Sans"/>
                <a:cs typeface="Noto Sans"/>
                <a:sym typeface="Noto Sans"/>
              </a:rPr>
              <a:t>TỶ LỆ LỖI GIAO DỊCH (ERROR RATE)</a:t>
            </a:r>
            <a:endParaRPr i="0" sz="950" u="none" cap="none" strike="noStrike">
              <a:solidFill>
                <a:schemeClr val="dk1"/>
              </a:solidFill>
              <a:latin typeface="Noto Sans"/>
              <a:ea typeface="Noto Sans"/>
              <a:cs typeface="Noto Sans"/>
              <a:sym typeface="Noto Sans"/>
            </a:endParaRPr>
          </a:p>
        </p:txBody>
      </p:sp>
      <p:sp>
        <p:nvSpPr>
          <p:cNvPr id="297" name="Google Shape;297;p24"/>
          <p:cNvSpPr/>
          <p:nvPr/>
        </p:nvSpPr>
        <p:spPr>
          <a:xfrm>
            <a:off x="4649201" y="3197745"/>
            <a:ext cx="3810000" cy="23700"/>
          </a:xfrm>
          <a:prstGeom prst="roundRect">
            <a:avLst>
              <a:gd fmla="val 50000" name="adj"/>
            </a:avLst>
          </a:prstGeom>
          <a:solidFill>
            <a:srgbClr val="6A65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298" name="Google Shape;298;p24"/>
          <p:cNvSpPr/>
          <p:nvPr/>
        </p:nvSpPr>
        <p:spPr>
          <a:xfrm>
            <a:off x="4649201" y="3396579"/>
            <a:ext cx="3810000" cy="12048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b="1" i="0" lang="en-US" sz="1200" u="none" cap="none" strike="noStrike">
                <a:solidFill>
                  <a:srgbClr val="D9D3C6"/>
                </a:solidFill>
                <a:latin typeface="Noto Sans"/>
                <a:ea typeface="Noto Sans"/>
                <a:cs typeface="Noto Sans"/>
                <a:sym typeface="Noto Sans"/>
              </a:rPr>
              <a:t>Thời gian phản hồi trung bình (Average Response Time):</a:t>
            </a:r>
            <a:r>
              <a:rPr i="0" lang="en-US" sz="1200" u="none" cap="none" strike="noStrike">
                <a:solidFill>
                  <a:srgbClr val="D9D3C6"/>
                </a:solidFill>
                <a:latin typeface="Noto Sans"/>
                <a:ea typeface="Noto Sans"/>
                <a:cs typeface="Noto Sans"/>
                <a:sym typeface="Noto Sans"/>
              </a:rPr>
              <a:t> Duy trì ổn định từ 117ms đến 280ms.</a:t>
            </a:r>
            <a:endParaRPr i="0" sz="1200" u="none" cap="none" strike="noStrike">
              <a:solidFill>
                <a:schemeClr val="dk1"/>
              </a:solidFill>
              <a:latin typeface="Noto Sans"/>
              <a:ea typeface="Noto Sans"/>
              <a:cs typeface="Noto Sans"/>
              <a:sym typeface="Noto Sans"/>
            </a:endParaRPr>
          </a:p>
          <a:p>
            <a:pPr indent="0" lvl="0" marL="0" marR="0" rtl="0" algn="l">
              <a:lnSpc>
                <a:spcPct val="117000"/>
              </a:lnSpc>
              <a:spcBef>
                <a:spcPts val="1050"/>
              </a:spcBef>
              <a:spcAft>
                <a:spcPts val="0"/>
              </a:spcAft>
              <a:buClr>
                <a:srgbClr val="D9D3C6"/>
              </a:buClr>
              <a:buSzPts val="1200"/>
              <a:buFont typeface="Red Hat Text"/>
              <a:buNone/>
            </a:pPr>
            <a:r>
              <a:rPr b="1" i="0" lang="en-US" sz="1200" u="none" cap="none" strike="noStrike">
                <a:solidFill>
                  <a:srgbClr val="D9D3C6"/>
                </a:solidFill>
                <a:latin typeface="Noto Sans"/>
                <a:ea typeface="Noto Sans"/>
                <a:cs typeface="Noto Sans"/>
                <a:sym typeface="Noto Sans"/>
              </a:rPr>
              <a:t>Khả năng phục hồi (Resilience):</a:t>
            </a:r>
            <a:r>
              <a:rPr i="0" lang="en-US" sz="1200" u="none" cap="none" strike="noStrike">
                <a:solidFill>
                  <a:srgbClr val="D9D3C6"/>
                </a:solidFill>
                <a:latin typeface="Noto Sans"/>
                <a:ea typeface="Noto Sans"/>
                <a:cs typeface="Noto Sans"/>
                <a:sym typeface="Noto Sans"/>
              </a:rPr>
              <a:t> Hệ thống không xảy ra hiện tượng văng lỗi 502 Bad Gateway hay gãy kết nối Pool MongoDB/Redis.</a:t>
            </a:r>
            <a:endParaRPr i="0" sz="1200" u="none" cap="none" strike="noStrike">
              <a:solidFill>
                <a:schemeClr val="dk1"/>
              </a:solidFill>
              <a:latin typeface="Noto Sans"/>
              <a:ea typeface="Noto Sans"/>
              <a:cs typeface="Noto Sans"/>
              <a:sym typeface="Noto Sans"/>
            </a:endParaRPr>
          </a:p>
        </p:txBody>
      </p:sp>
      <p:sp>
        <p:nvSpPr>
          <p:cNvPr id="299" name="Google Shape;299;p24"/>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25"/>
          <p:cNvSpPr/>
          <p:nvPr/>
        </p:nvSpPr>
        <p:spPr>
          <a:xfrm>
            <a:off x="419100" y="419100"/>
            <a:ext cx="8724900" cy="13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39C8E"/>
              </a:buClr>
              <a:buSzPts val="900"/>
              <a:buFont typeface="Red Hat Text SemiBold"/>
              <a:buNone/>
            </a:pPr>
            <a:r>
              <a:rPr i="0" lang="en-US" sz="900" u="none" cap="none" strike="noStrike">
                <a:solidFill>
                  <a:srgbClr val="A39C8E"/>
                </a:solidFill>
                <a:latin typeface="Noto Sans SemiBold"/>
                <a:ea typeface="Noto Sans SemiBold"/>
                <a:cs typeface="Noto Sans SemiBold"/>
                <a:sym typeface="Noto Sans SemiBold"/>
              </a:rPr>
              <a:t>PHẦN VI: NGHIỆM THU CHẤT LƯỢNG &amp; CI/CD</a:t>
            </a:r>
            <a:endParaRPr i="0" sz="900" u="none" cap="none" strike="noStrike">
              <a:solidFill>
                <a:schemeClr val="dk1"/>
              </a:solidFill>
              <a:latin typeface="Noto Sans"/>
              <a:ea typeface="Noto Sans"/>
              <a:cs typeface="Noto Sans"/>
              <a:sym typeface="Noto Sans"/>
            </a:endParaRPr>
          </a:p>
        </p:txBody>
      </p:sp>
      <p:sp>
        <p:nvSpPr>
          <p:cNvPr id="306" name="Google Shape;306;p25"/>
          <p:cNvSpPr/>
          <p:nvPr/>
        </p:nvSpPr>
        <p:spPr>
          <a:xfrm>
            <a:off x="419100" y="682451"/>
            <a:ext cx="8305800" cy="800100"/>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EFE8D8"/>
              </a:buClr>
              <a:buSzPts val="3050"/>
              <a:buFont typeface="League Spartan"/>
              <a:buNone/>
            </a:pPr>
            <a:r>
              <a:rPr b="1" i="0" lang="en-US" sz="3050" u="none" cap="none" strike="noStrike">
                <a:solidFill>
                  <a:srgbClr val="EFE8D8"/>
                </a:solidFill>
                <a:latin typeface="League Spartan"/>
                <a:ea typeface="League Spartan"/>
                <a:cs typeface="League Spartan"/>
                <a:sym typeface="League Spartan"/>
              </a:rPr>
              <a:t>KẾT LUẬN NGHIỆM THU &amp; LỘ TRÌNH CI/CD PIPELINE</a:t>
            </a:r>
            <a:endParaRPr i="0" sz="3050" u="none" cap="none" strike="noStrike">
              <a:solidFill>
                <a:schemeClr val="dk1"/>
              </a:solidFill>
              <a:latin typeface="League Spartan"/>
              <a:ea typeface="League Spartan"/>
              <a:cs typeface="League Spartan"/>
              <a:sym typeface="League Spartan"/>
            </a:endParaRPr>
          </a:p>
        </p:txBody>
      </p:sp>
      <p:sp>
        <p:nvSpPr>
          <p:cNvPr id="307" name="Google Shape;307;p25"/>
          <p:cNvSpPr/>
          <p:nvPr/>
        </p:nvSpPr>
        <p:spPr>
          <a:xfrm>
            <a:off x="419100" y="1570658"/>
            <a:ext cx="1800600" cy="237600"/>
          </a:xfrm>
          <a:prstGeom prst="roundRect">
            <a:avLst>
              <a:gd fmla="val 7697" name="adj"/>
            </a:avLst>
          </a:prstGeom>
          <a:solidFill>
            <a:srgbClr val="4413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308" name="Google Shape;308;p25"/>
          <p:cNvSpPr/>
          <p:nvPr/>
        </p:nvSpPr>
        <p:spPr>
          <a:xfrm>
            <a:off x="510480" y="1616348"/>
            <a:ext cx="2075100" cy="146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9D3C6"/>
              </a:buClr>
              <a:buSzPts val="950"/>
              <a:buFont typeface="Red Hat Text SemiBold"/>
              <a:buNone/>
            </a:pPr>
            <a:r>
              <a:rPr i="0" lang="en-US" sz="950" u="none" cap="none" strike="noStrike">
                <a:solidFill>
                  <a:srgbClr val="D9D3C6"/>
                </a:solidFill>
                <a:latin typeface="Noto Sans SemiBold"/>
                <a:ea typeface="Noto Sans SemiBold"/>
                <a:cs typeface="Noto Sans SemiBold"/>
                <a:sym typeface="Noto Sans SemiBold"/>
              </a:rPr>
              <a:t>RELEASE GATE PASSED</a:t>
            </a:r>
            <a:endParaRPr i="0" sz="950" u="none" cap="none" strike="noStrike">
              <a:solidFill>
                <a:schemeClr val="dk1"/>
              </a:solidFill>
              <a:latin typeface="Noto Sans"/>
              <a:ea typeface="Noto Sans"/>
              <a:cs typeface="Noto Sans"/>
              <a:sym typeface="Noto Sans"/>
            </a:endParaRPr>
          </a:p>
        </p:txBody>
      </p:sp>
      <p:sp>
        <p:nvSpPr>
          <p:cNvPr id="309" name="Google Shape;309;p25"/>
          <p:cNvSpPr/>
          <p:nvPr/>
        </p:nvSpPr>
        <p:spPr>
          <a:xfrm>
            <a:off x="419100" y="1946374"/>
            <a:ext cx="4095900" cy="16869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310" name="Google Shape;310;p25"/>
          <p:cNvSpPr/>
          <p:nvPr/>
        </p:nvSpPr>
        <p:spPr>
          <a:xfrm>
            <a:off x="590550" y="2060674"/>
            <a:ext cx="3753000" cy="495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Red Hat Text"/>
              <a:buNone/>
            </a:pPr>
            <a:r>
              <a:rPr i="0" lang="en-US" sz="1500" u="none" cap="none" strike="noStrike">
                <a:solidFill>
                  <a:srgbClr val="D9D3C6"/>
                </a:solidFill>
                <a:latin typeface="Noto Sans"/>
                <a:ea typeface="Noto Sans"/>
                <a:cs typeface="Noto Sans"/>
                <a:sym typeface="Noto Sans"/>
              </a:rPr>
              <a:t>1. Đủ Điều kiện Phát hành (Release Readiness)</a:t>
            </a:r>
            <a:endParaRPr i="0" sz="1500" u="none" cap="none" strike="noStrike">
              <a:solidFill>
                <a:schemeClr val="dk1"/>
              </a:solidFill>
              <a:latin typeface="Noto Sans"/>
              <a:ea typeface="Noto Sans"/>
              <a:cs typeface="Noto Sans"/>
              <a:sym typeface="Noto Sans"/>
            </a:endParaRPr>
          </a:p>
        </p:txBody>
      </p:sp>
      <p:sp>
        <p:nvSpPr>
          <p:cNvPr id="311" name="Google Shape;311;p25"/>
          <p:cNvSpPr/>
          <p:nvPr/>
        </p:nvSpPr>
        <p:spPr>
          <a:xfrm>
            <a:off x="590550" y="2665512"/>
            <a:ext cx="3753000" cy="8535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i="0" lang="en-US" sz="1200" u="none" cap="none" strike="noStrike">
                <a:solidFill>
                  <a:srgbClr val="D9D3C6"/>
                </a:solidFill>
                <a:latin typeface="Noto Sans"/>
                <a:ea typeface="Noto Sans"/>
                <a:cs typeface="Noto Sans"/>
                <a:sym typeface="Noto Sans"/>
              </a:rPr>
              <a:t>Sau khi vá hoàn tất 13 lỗi trong Defect Log và vượt qua các bài test tự động hóa (Jest 100% Coverage, k6 Concurrency), hệ thống AuctionHouse đạt chuẩn chất lượng an toàn tài chính và sẵn sàng phát hành.</a:t>
            </a:r>
            <a:endParaRPr i="0" sz="1200" u="none" cap="none" strike="noStrike">
              <a:solidFill>
                <a:schemeClr val="dk1"/>
              </a:solidFill>
              <a:latin typeface="Noto Sans"/>
              <a:ea typeface="Noto Sans"/>
              <a:cs typeface="Noto Sans"/>
              <a:sym typeface="Noto Sans"/>
            </a:endParaRPr>
          </a:p>
        </p:txBody>
      </p:sp>
      <p:sp>
        <p:nvSpPr>
          <p:cNvPr id="312" name="Google Shape;312;p25"/>
          <p:cNvSpPr/>
          <p:nvPr/>
        </p:nvSpPr>
        <p:spPr>
          <a:xfrm>
            <a:off x="4629150" y="1946374"/>
            <a:ext cx="4095900" cy="1686900"/>
          </a:xfrm>
          <a:prstGeom prst="rect">
            <a:avLst/>
          </a:prstGeom>
          <a:solidFill>
            <a:srgbClr val="2A26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313" name="Google Shape;313;p25"/>
          <p:cNvSpPr/>
          <p:nvPr/>
        </p:nvSpPr>
        <p:spPr>
          <a:xfrm>
            <a:off x="4800600" y="2060674"/>
            <a:ext cx="3753000" cy="247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D9D3C6"/>
              </a:buClr>
              <a:buSzPts val="1500"/>
              <a:buFont typeface="Red Hat Text"/>
              <a:buNone/>
            </a:pPr>
            <a:r>
              <a:rPr i="0" lang="en-US" sz="1500" u="none" cap="none" strike="noStrike">
                <a:solidFill>
                  <a:srgbClr val="D9D3C6"/>
                </a:solidFill>
                <a:latin typeface="Noto Sans"/>
                <a:ea typeface="Noto Sans"/>
                <a:cs typeface="Noto Sans"/>
                <a:sym typeface="Noto Sans"/>
              </a:rPr>
              <a:t>2. Tích hợp GitHub Actions CI/CD Pipeline</a:t>
            </a:r>
            <a:endParaRPr i="0" sz="1500" u="none" cap="none" strike="noStrike">
              <a:solidFill>
                <a:schemeClr val="dk1"/>
              </a:solidFill>
              <a:latin typeface="Noto Sans"/>
              <a:ea typeface="Noto Sans"/>
              <a:cs typeface="Noto Sans"/>
              <a:sym typeface="Noto Sans"/>
            </a:endParaRPr>
          </a:p>
        </p:txBody>
      </p:sp>
      <p:sp>
        <p:nvSpPr>
          <p:cNvPr id="314" name="Google Shape;314;p25"/>
          <p:cNvSpPr/>
          <p:nvPr/>
        </p:nvSpPr>
        <p:spPr>
          <a:xfrm>
            <a:off x="4800600" y="2417862"/>
            <a:ext cx="3753000" cy="8535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i="0" lang="en-US" sz="1200" u="none" cap="none" strike="noStrike">
                <a:solidFill>
                  <a:srgbClr val="D9D3C6"/>
                </a:solidFill>
                <a:latin typeface="Noto Sans"/>
                <a:ea typeface="Noto Sans"/>
                <a:cs typeface="Noto Sans"/>
                <a:sym typeface="Noto Sans"/>
              </a:rPr>
              <a:t>Toàn bộ bộ tài sản kiểm thử tự động (Jest Unit Tests, API Axios, k6 Scripts) được đóng gói vào quy trình GitHub Actions, tự động chạy kiểm thử chặn mã nguồn lỗi mỗi khi lập trình viên thực hiện Pull Request.</a:t>
            </a:r>
            <a:endParaRPr i="0" sz="1200" u="none" cap="none" strike="noStrike">
              <a:solidFill>
                <a:schemeClr val="dk1"/>
              </a:solidFill>
              <a:latin typeface="Noto Sans"/>
              <a:ea typeface="Noto Sans"/>
              <a:cs typeface="Noto Sans"/>
              <a:sym typeface="Noto Sans"/>
            </a:endParaRPr>
          </a:p>
        </p:txBody>
      </p:sp>
      <p:sp>
        <p:nvSpPr>
          <p:cNvPr id="315" name="Google Shape;315;p25"/>
          <p:cNvSpPr/>
          <p:nvPr/>
        </p:nvSpPr>
        <p:spPr>
          <a:xfrm>
            <a:off x="419100" y="3808214"/>
            <a:ext cx="8305800" cy="23700"/>
          </a:xfrm>
          <a:prstGeom prst="roundRect">
            <a:avLst>
              <a:gd fmla="val 50000" name="adj"/>
            </a:avLst>
          </a:prstGeom>
          <a:solidFill>
            <a:srgbClr val="6A65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Noto Sans"/>
              <a:ea typeface="Noto Sans"/>
              <a:cs typeface="Noto Sans"/>
              <a:sym typeface="Noto Sans"/>
            </a:endParaRPr>
          </a:p>
        </p:txBody>
      </p:sp>
      <p:sp>
        <p:nvSpPr>
          <p:cNvPr id="316" name="Google Shape;316;p25"/>
          <p:cNvSpPr/>
          <p:nvPr/>
        </p:nvSpPr>
        <p:spPr>
          <a:xfrm>
            <a:off x="419100" y="4007048"/>
            <a:ext cx="8724900" cy="2133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D9D3C6"/>
              </a:buClr>
              <a:buSzPts val="1200"/>
              <a:buFont typeface="Red Hat Text"/>
              <a:buNone/>
            </a:pPr>
            <a:r>
              <a:rPr b="1" i="0" lang="en-US" sz="1200" u="none" cap="none" strike="noStrike">
                <a:solidFill>
                  <a:srgbClr val="D9D3C6"/>
                </a:solidFill>
                <a:latin typeface="Noto Sans"/>
                <a:ea typeface="Noto Sans"/>
                <a:cs typeface="Noto Sans"/>
                <a:sym typeface="Noto Sans"/>
              </a:rPr>
              <a:t>XIN CHÂN THÀNH CẢM ƠN THẦY TRỊNH THANH BÌNH ĐÃ THEO DÕI!</a:t>
            </a:r>
            <a:endParaRPr i="0" sz="1200" u="none" cap="none" strike="noStrike">
              <a:solidFill>
                <a:schemeClr val="dk1"/>
              </a:solidFill>
              <a:latin typeface="Noto Sans"/>
              <a:ea typeface="Noto Sans"/>
              <a:cs typeface="Noto Sans"/>
              <a:sym typeface="Noto Sans"/>
            </a:endParaRPr>
          </a:p>
        </p:txBody>
      </p:sp>
      <p:sp>
        <p:nvSpPr>
          <p:cNvPr id="317" name="Google Shape;317;p25"/>
          <p:cNvSpPr/>
          <p:nvPr/>
        </p:nvSpPr>
        <p:spPr>
          <a:xfrm>
            <a:off x="419100" y="4358506"/>
            <a:ext cx="8724900" cy="154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A39C8E"/>
              </a:buClr>
              <a:buSzPts val="950"/>
              <a:buFont typeface="Red Hat Text"/>
              <a:buNone/>
            </a:pPr>
            <a:r>
              <a:rPr i="0" lang="en-US" sz="950" u="none" cap="none" strike="noStrike">
                <a:solidFill>
                  <a:srgbClr val="A39C8E"/>
                </a:solidFill>
                <a:latin typeface="Noto Sans"/>
                <a:ea typeface="Noto Sans"/>
                <a:cs typeface="Noto Sans"/>
                <a:sym typeface="Noto Sans"/>
              </a:rPr>
              <a:t>Báo cáo Bài tập lớn môn Đánh giá và Kiểm định Chất lượng Phần mềm - Nhóm 12</a:t>
            </a:r>
            <a:endParaRPr i="0" sz="950" u="none" cap="none" strike="noStrike">
              <a:solidFill>
                <a:schemeClr val="dk1"/>
              </a:solidFill>
              <a:latin typeface="Noto Sans"/>
              <a:ea typeface="Noto Sans"/>
              <a:cs typeface="Noto Sans"/>
              <a:sym typeface="Noto Sans"/>
            </a:endParaRPr>
          </a:p>
        </p:txBody>
      </p:sp>
      <p:sp>
        <p:nvSpPr>
          <p:cNvPr id="318" name="Google Shape;318;p25"/>
          <p:cNvSpPr/>
          <p:nvPr/>
        </p:nvSpPr>
        <p:spPr>
          <a:xfrm>
            <a:off x="0" y="4651400"/>
            <a:ext cx="8763000" cy="154800"/>
          </a:xfrm>
          <a:prstGeom prst="rect">
            <a:avLst/>
          </a:prstGeom>
          <a:noFill/>
          <a:ln>
            <a:noFill/>
          </a:ln>
        </p:spPr>
        <p:txBody>
          <a:bodyPr anchorCtr="0" anchor="t" bIns="0" lIns="0" spcFirstLastPara="1" rIns="0" wrap="square" tIns="0">
            <a:noAutofit/>
          </a:bodyPr>
          <a:lstStyle/>
          <a:p>
            <a:pPr indent="0" lvl="0" marL="0" marR="0" rtl="0" algn="r">
              <a:lnSpc>
                <a:spcPct val="108000"/>
              </a:lnSpc>
              <a:spcBef>
                <a:spcPts val="0"/>
              </a:spcBef>
              <a:spcAft>
                <a:spcPts val="0"/>
              </a:spcAft>
              <a:buClr>
                <a:srgbClr val="A39C8E"/>
              </a:buClr>
              <a:buSzPts val="950"/>
              <a:buFont typeface="Red Hat Text"/>
              <a:buNone/>
            </a:pPr>
            <a:r>
              <a:rPr i="0" lang="en-US" sz="950" u="none" cap="none" strike="noStrike">
                <a:solidFill>
                  <a:srgbClr val="A39C8E"/>
                </a:solidFill>
                <a:latin typeface="Noto Sans"/>
                <a:ea typeface="Noto Sans"/>
                <a:cs typeface="Noto Sans"/>
                <a:sym typeface="Noto Sans"/>
              </a:rPr>
              <a:t>PHENIKAA UNIVERSITY • KHOA CNTT</a:t>
            </a:r>
            <a:endParaRPr i="0" sz="950" u="none" cap="none" strike="noStrike">
              <a:solidFill>
                <a:schemeClr val="dk1"/>
              </a:solidFill>
              <a:latin typeface="Noto Sans"/>
              <a:ea typeface="Noto Sans"/>
              <a:cs typeface="Noto Sans"/>
              <a:sym typeface="Noto Sans"/>
            </a:endParaRPr>
          </a:p>
        </p:txBody>
      </p:sp>
      <p:sp>
        <p:nvSpPr>
          <p:cNvPr id="319" name="Google Shape;319;p25"/>
          <p:cNvSpPr/>
          <p:nvPr/>
        </p:nvSpPr>
        <p:spPr>
          <a:xfrm>
            <a:off x="7922800" y="4846600"/>
            <a:ext cx="1164000" cy="252600"/>
          </a:xfrm>
          <a:prstGeom prst="rect">
            <a:avLst/>
          </a:prstGeom>
          <a:solidFill>
            <a:srgbClr val="1B191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